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Medical image segmentation is a fundamental task in medical image analysis. Unlike classification which assigns a single label to an entire image, segmentation provides spatial information by classifying every pixel. This is essential for understanding the precise location, size, and shape of anatomical structures.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Medical image segmentation has wide-ranging clinical applications. In lung cancer, accurate segmentation helps radiologists measure tumor size and track changes over time. For brain tumors, different tumor components need to be segmented separately. Organ segmentation is crucial for transplant planning, surgical guidance, and ensuring radiation therapy targets tumors while sparing healthy tissue.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Manual segmentation is extremely labor-intensive and requires expert knowledge. A single 3D brain MRI can take 2-4 hours to segment manually. Inter-observer variability is a major issue - studies show Dice scores between different experts ranging from 0.7-0.9, indicating significant disagreement. This motivates the need for automated, consistent, and fast segmentation algorithms.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Deep learning has revolutionized medical image segmentation. Unlike traditional methods that require manual feature engineering (e.g., designing filters to detect edges), deep learning models learn optimal features directly from data. Modern architectures like U-Net achieve Dice scores &gt;0.9 on many tasks, rivaling expert radiologists while processing images in seconds.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deep learning, segmentation relied on classical computer vision techniques. Thresholding separates pixels based on intensity values but fails when regions overlap in intensity. Active contours deform a curve to match object boundaries but get stuck in local optima. Atlas-based methods work well for healthy anatomy but struggle with pathology that deforms normal structure.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FCN by Long et al. was the first work to adapt CNNs for semantic segmentation. The key insight was replacing fully connected layers with 1x1 convolutions, allowing the network to output spatial maps. They introduced skip connections to combine high-level semantic information with low-level spatial details. This laid the foundation for all modern segmentation architectures.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U-Net revolutionized medical image segmentation. The symmetric U-shaped architecture with skip connections became the de facto standard. Skip connections concatenate encoder features with decoder features at the same resolution, enabling the network to use both high-resolution spatial information and high-level semantic information. Critically, U-Net was designed to work with small datasets common in medical imaging.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V-Net extended U-Net to 3D volumes, essential for medical imaging where data is inherently volumetric (CT, MRI). The Dice loss was a major contribution - instead of pixel-wise cross-entropy, it directly optimizes the Dice coefficient metric that radiologists use. This helps with class imbalance (most pixels are background) and directly maximizes the evaluation metric.</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U-Net++ addresses the semantic gap between encoder and decoder features in U-Net. By introducing nested dense skip connections, features are gradually upsampled and refined. Deep supervision means auxiliary losses are applied at intermediate layers, helping gradient flow. This leads to better performance but at the cost of more parameters and computation.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Attention U-Net introduces attention gates that act as a soft selection mechanism. The gating signal from the decoder pathway guides the attention mechanism to focus on specific regions in the encoder features. This is particularly useful in medical imaging where the region of interest is small compared to the entire image (e.g., small tumors, pancreas). The attention weights are learned end-to-end without extra supervision.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nnU-Net by Isensee et al. represents the engineering pinnacle of U-Net based methods. It automatically configures all preprocessing, architecture choices, and training hyperparameters based on the dataset fingerprint. This removes the need for manual tuning and makes it highly robust. It has become the de facto baseline for medical image segmentation competitions and research.</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Transformers, which revolutionized NLP, have been adapted for medical image segmentation. The self-attention mechanism can capture long-range dependencies that CNNs miss. However, transformers require much more data to train effectively. On large datasets, they can outperform CNNs, but on small medical imaging datasets (hundreds of images), CNN-based methods like nnU-Net still dominate.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timeline shows the rapid evolution of medical image segmentation. U-Net (2015) remains the foundation. Attention U-Net (2018) added interpretability and performance gains. nnU-Net (2021) proved that proper engineering of U-Net variants can beat more complex methods. Transformers are emerging but haven't fully replaced CNNs yet. Foundation models like SAM show promise for universal segmentation.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Standard U-Net skip connections concatenate all encoder features without discrimination. This can be problematic when the target region is small (e.g., small tumors, pancreas) compared to background. Attention gates learn to weight features based on their relevance, essentially teaching the network where to look. This improves both performance and interpretability.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attention gate takes two inputs: high-resolution features from encoder and coarse semantic features from decoder. These are transformed and combined, then passed through a sigmoid to produce attention coefficients between 0 and 1. These coefficients weight each spatial location and channel in the encoder features, suppressing background and highlighting foreground.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mathematical formulation shows that attention gates are fully differentiable and learned through standard backpropagation. The transformations W_x and W_g are 1x1 convolutions that project features to an intermediate dimension. The gating signal g provides context about what the network is trying to segment, which guides the attention. No additional labels or supervision is needed - the attention learns where to focus based on the segmentation task.</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Attention U-Net provides consistent improvements over standard U-Net, especially for small target regions where sensitivity is critical. The attention maps also provide interpretability - we can visualize what the network focuses on. The overhead is minimal: a small increase in parameters (attention modules) and negligible increase in inference time. This makes it an efficient upgrade to standard U-Net.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Attention maps provide valuable interpretability, especially important in medical applications. By visualizing attention weights at different decoder stages, we can see how the network progressively refines its focus from coarse regions to precise boundaries. This interpretability helps clinicians trust and validate AI predictions, and can help identify failure modes before they cause clinical errors.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use the Medical Segmentation Decathlon Lung dataset, a standardized benchmark for medical image segmentation. The dataset contains CT scans with lung cancer annotations. We work with the middle slice of each 3D volume for 2D segmentation. The 80/10/10 split ensures we have enough data for training while preserving independent validation and test sets.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preprocessing pipeline is implemented in data/dataset.py. We normalize intensities per-image since CT scans can have varying intensity ranges. Augmentation is critical for medical imaging where training data is limited. We use Albumentations library for efficient augmentations. Elastic deformation is particularly important as it simulates realistic anatomical variations.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implementation in model/unet.py follows the Attention U-Net architecture with some enhancements. We use residual connections within conv blocks for better gradient flow. The base channels of 32 gives us ~4M parameters - a good balance for our dataset size. Dropout provides regularization to prevent overfitting. Attention gates are applied at all 4 skip connections.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Deep supervision is a technique where we add auxiliary losses at intermediate decoder layers. During training, targets are downsampled to match auxiliary output resolutions. This provides direct supervision to intermediate layers, improving gradient flow. The auxiliary losses are weighted 0.25 relative to the main loss. During inference, we disable deep supervision and use only the final output for efficiency.</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training strategy is implemented in train.py. The combined loss leverages both Dice (good for overlap) and CE (good for pixel-wise accuracy). Adam optimizer is standard for medical imaging. CosineAnnealingLR provides smooth learning rate decay. Mixed precision training using PyTorch AMP reduces memory usage and speeds up training by ~2× with negligible impact on final accuracy.</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use a batch size of 4 due to memory constraints - medical images are high resolution. Training for 100 epochs with early stopping prevents overfitting while ensuring convergence. TensorBoard integration provides real-time monitoring of training progress. We save the best model based on validation Dice score and also periodic checkpoints every 10 epochs for analysis.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Dice coefficient is the most common metric in medical segmentation - it measures overlap and is robust to class imbalance. IoU is similar but more stringent. Hausdorff distance measures boundary accuracy, critical for surgical planning where precise boundaries matter. We implement all three metrics in evaluate.py for comprehensive assessment. Dice &gt;0.8 is generally considered good, &gt;0.9 is excellent.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PLACEHOLDER: After training, insert line plots showing: (1) Training and validation loss curves over epochs, (2) Training and validation Dice score curves, (3) Learning rate schedule. These curves help diagnose convergence, overfitting, and training stability. Typical training takes 30-50 epochs to converge with early stopping.</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PLACEHOLDER: After training, create a grid visualization showing input CT slices, ground truth masks, and model predictions side-by-side. Include diverse examples: best cases (perfect segmentation), average cases (typical performance), and challenging cases (small tumors, low contrast, noise). This provides qualitative assessment of model performance and failure modes. Use visualizations/evaluation/ directory.</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PLACEHOLDER: After evaluation on test set, fill in quantitative metrics. Expected performance for lung tumor segmentation: Dice 0.7-0.85 (challenging task due to tumor heterogeneity), IoU 0.6-0.75, Hausdorff distance &lt;10mm. Report mean and standard deviation across test set. Also report per-class metrics and inference time on your hardware (typically 20-50ms per image on GPU).</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PLACEHOLDER: After evaluation, analyze failure cases to understand model limitations. Common failures in lung tumor segmentation: (1) Small tumors (&lt;10mm) are often missed or under-segmented, (2) Low contrast tumors blend with surrounding tissue, (3) Irregular shapes are over-smoothed. Document specific examples with Dice scores. Suggest improvements: focal loss weights hard examples, test-time augmentation, multi-model ensembles.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PLACEHOLDER: To validate the attention mechanism, train both standard U-Net and Attention U-Net on the same data. Compare Dice, IoU, and Hausdorff distance. Also compare parameter count and inference time. Expected results: Attention U-Net should show 1-3% Dice improvement with minimal computational overhead. Attention is especially beneficial for small tumors where it improves sensitivity.</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lecture covered the evolution of medical image segmentation from traditional methods to modern deep learning approaches. U-Net revolutionized the field, and Attention U-Net improved it with learnable focus mechanisms. Our implementation demonstrates a complete pipeline from data loading to evaluation. The key innovation of attention gates is providing both performance gains and interpretability, critical for clinical deployment.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field continues to evolve rapidly. Future directions include: (1) 3D attention for volumetric data, (2) Transformer architectures once datasets grow larger, (3) Foundation models like SAM that can segment anything with minimal fine-tuning, (4) Multi-modal fusion to leverage complementary information, (5) Uncertainty quantification to know when predictions are unreliable. These advances will make automated segmentation safer and more reliable for clinical deployment.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1 of references covering foundational papers: FCN, U-Net, V-Net, U-Net++, and Attention U-Net. These papers established the core architectures used in medical image segmentation today.</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2 of references covering recent advances: nnU-Net (current state-of-the-art), transformer-based methods (TransUNet, Swin-UNET, nnFormer), and the Medical Segmentation Decathlon dataset used in our implementation.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93764"/>
        </a:solidFill>
        <a:effectLst/>
      </p:bgPr>
    </p:bg>
    <p:spTree>
      <p:nvGrpSpPr>
        <p:cNvPr id="1" name=""/>
        <p:cNvGrpSpPr/>
        <p:nvPr/>
      </p:nvGrpSpPr>
      <p:grpSpPr/>
      <p:sp>
        <p:nvSpPr>
          <p:cNvPr id="2" name="TextBox 1"/>
          <p:cNvSpPr txBox="1"/>
          <p:nvPr/>
        </p:nvSpPr>
        <p:spPr>
          <a:xfrm>
            <a:off x="457200" y="2286000"/>
            <a:ext cx="8229600" cy="1371600"/>
          </a:xfrm>
          <a:prstGeom prst="rect">
            <a:avLst/>
          </a:prstGeom>
          <a:noFill/>
        </p:spPr>
        <p:txBody>
          <a:bodyPr wrap="none">
            <a:spAutoFit/>
          </a:bodyPr>
          <a:lstStyle/>
          <a:p>
            <a:pPr algn="ctr">
              <a:defRPr sz="5400" b="1">
                <a:solidFill>
                  <a:srgbClr val="FFFFFF"/>
                </a:solidFill>
              </a:defRPr>
            </a:pPr>
            <a:r>
              <a:t>Medical Image Segmentation using Deep Learning</a:t>
            </a:r>
          </a:p>
        </p:txBody>
      </p:sp>
      <p:sp>
        <p:nvSpPr>
          <p:cNvPr id="3" name="TextBox 2"/>
          <p:cNvSpPr txBox="1"/>
          <p:nvPr/>
        </p:nvSpPr>
        <p:spPr>
          <a:xfrm>
            <a:off x="457200" y="3657600"/>
            <a:ext cx="8229600" cy="914400"/>
          </a:xfrm>
          <a:prstGeom prst="rect">
            <a:avLst/>
          </a:prstGeom>
          <a:noFill/>
        </p:spPr>
        <p:txBody>
          <a:bodyPr wrap="none">
            <a:spAutoFit/>
          </a:bodyPr>
          <a:lstStyle/>
          <a:p>
            <a:pPr algn="ctr">
              <a:defRPr sz="2800">
                <a:solidFill>
                  <a:srgbClr val="DCDCDC"/>
                </a:solidFill>
              </a:defRPr>
            </a:pPr>
            <a:r>
              <a:t>From U-Net to Attention U-Net: A Comprehensive Overview</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93764"/>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none">
            <a:spAutoFit/>
          </a:bodyPr>
          <a:lstStyle/>
          <a:p>
            <a:pPr>
              <a:defRPr sz="4000" b="1">
                <a:solidFill>
                  <a:srgbClr val="FFFFFF"/>
                </a:solidFill>
              </a:defRPr>
            </a:pPr>
            <a:r>
              <a:t>What is Medical Image Segmentation?</a:t>
            </a:r>
          </a:p>
        </p:txBody>
      </p:sp>
      <p:sp>
        <p:nvSpPr>
          <p:cNvPr id="3" name="Rectangle 2"/>
          <p:cNvSpPr/>
          <p:nvPr/>
        </p:nvSpPr>
        <p:spPr>
          <a:xfrm>
            <a:off x="457200" y="1005840"/>
            <a:ext cx="8229600" cy="0"/>
          </a:xfrm>
          <a:prstGeom prst="rect">
            <a:avLst/>
          </a:prstGeom>
          <a:ln w="38100">
            <a:solidFill>
              <a:srgbClr val="FF8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7863840" cy="4846320"/>
          </a:xfrm>
          <a:prstGeom prst="rect">
            <a:avLst/>
          </a:prstGeom>
          <a:noFill/>
        </p:spPr>
        <p:txBody>
          <a:bodyPr wrap="square">
            <a:spAutoFit/>
          </a:bodyPr>
          <a:lstStyle/>
          <a:p>
            <a:pPr>
              <a:spcBef>
                <a:spcPts val="1000"/>
              </a:spcBef>
              <a:spcAft>
                <a:spcPts val="600"/>
              </a:spcAft>
              <a:defRPr sz="2000">
                <a:solidFill>
                  <a:srgbClr val="FFFFFF"/>
                </a:solidFill>
              </a:defRPr>
            </a:pPr>
            <a:r>
              <a:t>• Definition: The process of partitioning medical images into meaningful regions</a:t>
            </a:r>
          </a:p>
          <a:p>
            <a:pPr>
              <a:spcBef>
                <a:spcPts val="1000"/>
              </a:spcBef>
              <a:spcAft>
                <a:spcPts val="600"/>
              </a:spcAft>
              <a:defRPr sz="2000">
                <a:solidFill>
                  <a:srgbClr val="FFFFFF"/>
                </a:solidFill>
              </a:defRPr>
            </a:pPr>
            <a:r>
              <a:t>• Goal: Precisely delineate anatomical structures and pathological regions</a:t>
            </a:r>
          </a:p>
          <a:p>
            <a:pPr>
              <a:spcBef>
                <a:spcPts val="1000"/>
              </a:spcBef>
              <a:spcAft>
                <a:spcPts val="600"/>
              </a:spcAft>
              <a:defRPr sz="2000">
                <a:solidFill>
                  <a:srgbClr val="FFFFFF"/>
                </a:solidFill>
              </a:defRPr>
            </a:pPr>
            <a:r>
              <a:t>• Output: Pixel-wise classification of tissue types, organs, or lesions</a:t>
            </a:r>
          </a:p>
          <a:p>
            <a:pPr>
              <a:spcBef>
                <a:spcPts val="1000"/>
              </a:spcBef>
              <a:spcAft>
                <a:spcPts val="600"/>
              </a:spcAft>
              <a:defRPr sz="2000">
                <a:solidFill>
                  <a:srgbClr val="FFFFFF"/>
                </a:solidFill>
              </a:defRPr>
            </a:pPr>
          </a:p>
          <a:p>
            <a:pPr>
              <a:spcBef>
                <a:spcPts val="1000"/>
              </a:spcBef>
              <a:spcAft>
                <a:spcPts val="600"/>
              </a:spcAft>
              <a:defRPr sz="2000">
                <a:solidFill>
                  <a:srgbClr val="FFFFFF"/>
                </a:solidFill>
              </a:defRPr>
            </a:pPr>
            <a:r>
              <a:t>• Critical for:</a:t>
            </a:r>
          </a:p>
          <a:p>
            <a:pPr lvl="1">
              <a:spcBef>
                <a:spcPts val="1000"/>
              </a:spcBef>
              <a:spcAft>
                <a:spcPts val="600"/>
              </a:spcAft>
              <a:defRPr sz="1800">
                <a:solidFill>
                  <a:srgbClr val="FFFFFF"/>
                </a:solidFill>
              </a:defRPr>
            </a:pPr>
            <a:r>
              <a:t>  - Diagnosis and treatment planning</a:t>
            </a:r>
          </a:p>
          <a:p>
            <a:pPr lvl="1">
              <a:spcBef>
                <a:spcPts val="1000"/>
              </a:spcBef>
              <a:spcAft>
                <a:spcPts val="600"/>
              </a:spcAft>
              <a:defRPr sz="1800">
                <a:solidFill>
                  <a:srgbClr val="FFFFFF"/>
                </a:solidFill>
              </a:defRPr>
            </a:pPr>
            <a:r>
              <a:t>  - Surgical navigation and intervention</a:t>
            </a:r>
          </a:p>
          <a:p>
            <a:pPr lvl="1">
              <a:spcBef>
                <a:spcPts val="1000"/>
              </a:spcBef>
              <a:spcAft>
                <a:spcPts val="600"/>
              </a:spcAft>
              <a:defRPr sz="1800">
                <a:solidFill>
                  <a:srgbClr val="FFFFFF"/>
                </a:solidFill>
              </a:defRPr>
            </a:pPr>
            <a:r>
              <a:t>  - Quantitative analysis (volume, shape, location)</a:t>
            </a:r>
          </a:p>
          <a:p>
            <a:pPr lvl="1">
              <a:spcBef>
                <a:spcPts val="1000"/>
              </a:spcBef>
              <a:spcAft>
                <a:spcPts val="600"/>
              </a:spcAft>
              <a:defRPr sz="1800">
                <a:solidFill>
                  <a:srgbClr val="FFFFFF"/>
                </a:solidFill>
              </a:defRPr>
            </a:pPr>
            <a:r>
              <a:t>  - Monitoring disease progression and treatment response</a:t>
            </a:r>
          </a:p>
        </p:txBody>
      </p:sp>
      <p:sp>
        <p:nvSpPr>
          <p:cNvPr id="5" name="TextBox 4"/>
          <p:cNvSpPr txBox="1"/>
          <p:nvPr/>
        </p:nvSpPr>
        <p:spPr>
          <a:xfrm>
            <a:off x="8412480" y="6400800"/>
            <a:ext cx="457200" cy="274320"/>
          </a:xfrm>
          <a:prstGeom prst="rect">
            <a:avLst/>
          </a:prstGeom>
          <a:noFill/>
        </p:spPr>
        <p:txBody>
          <a:bodyPr wrap="none">
            <a:spAutoFit/>
          </a:bodyPr>
          <a:lstStyle/>
          <a:p>
            <a:pPr algn="r">
              <a:defRPr sz="1400">
                <a:solidFill>
                  <a:srgbClr val="DCDCDC"/>
                </a:solidFill>
              </a:defRPr>
            </a:pPr>
            <a:r>
              <a:t>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93764"/>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none">
            <a:spAutoFit/>
          </a:bodyPr>
          <a:lstStyle/>
          <a:p>
            <a:pPr>
              <a:defRPr sz="4000" b="1">
                <a:solidFill>
                  <a:srgbClr val="FFFFFF"/>
                </a:solidFill>
              </a:defRPr>
            </a:pPr>
            <a:r>
              <a:t>Clinical Applications</a:t>
            </a:r>
          </a:p>
        </p:txBody>
      </p:sp>
      <p:sp>
        <p:nvSpPr>
          <p:cNvPr id="3" name="Rectangle 2"/>
          <p:cNvSpPr/>
          <p:nvPr/>
        </p:nvSpPr>
        <p:spPr>
          <a:xfrm>
            <a:off x="457200" y="1005840"/>
            <a:ext cx="8229600" cy="0"/>
          </a:xfrm>
          <a:prstGeom prst="rect">
            <a:avLst/>
          </a:prstGeom>
          <a:ln w="38100">
            <a:solidFill>
              <a:srgbClr val="FF8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7863840" cy="4846320"/>
          </a:xfrm>
          <a:prstGeom prst="rect">
            <a:avLst/>
          </a:prstGeom>
          <a:noFill/>
        </p:spPr>
        <p:txBody>
          <a:bodyPr wrap="square">
            <a:spAutoFit/>
          </a:bodyPr>
          <a:lstStyle/>
          <a:p>
            <a:pPr>
              <a:spcBef>
                <a:spcPts val="1000"/>
              </a:spcBef>
              <a:spcAft>
                <a:spcPts val="600"/>
              </a:spcAft>
              <a:defRPr sz="2000">
                <a:solidFill>
                  <a:srgbClr val="FFFFFF"/>
                </a:solidFill>
              </a:defRPr>
            </a:pPr>
            <a:r>
              <a:t>• Lung Cancer Screening &amp; Diagnosis</a:t>
            </a:r>
          </a:p>
          <a:p>
            <a:pPr lvl="1">
              <a:spcBef>
                <a:spcPts val="1000"/>
              </a:spcBef>
              <a:spcAft>
                <a:spcPts val="600"/>
              </a:spcAft>
              <a:defRPr sz="1800">
                <a:solidFill>
                  <a:srgbClr val="FFFFFF"/>
                </a:solidFill>
              </a:defRPr>
            </a:pPr>
            <a:r>
              <a:t>  - Lung nodule detection and segmentation</a:t>
            </a:r>
          </a:p>
          <a:p>
            <a:pPr lvl="1">
              <a:spcBef>
                <a:spcPts val="1000"/>
              </a:spcBef>
              <a:spcAft>
                <a:spcPts val="600"/>
              </a:spcAft>
              <a:defRPr sz="1800">
                <a:solidFill>
                  <a:srgbClr val="FFFFFF"/>
                </a:solidFill>
              </a:defRPr>
            </a:pPr>
            <a:r>
              <a:t>  - Tumor volume quantification for staging</a:t>
            </a:r>
          </a:p>
          <a:p>
            <a:pPr lvl="1">
              <a:spcBef>
                <a:spcPts val="1000"/>
              </a:spcBef>
              <a:spcAft>
                <a:spcPts val="600"/>
              </a:spcAft>
              <a:defRPr sz="1800">
                <a:solidFill>
                  <a:srgbClr val="FFFFFF"/>
                </a:solidFill>
              </a:defRPr>
            </a:pPr>
            <a:r>
              <a:t>  - Treatment response assessment</a:t>
            </a:r>
          </a:p>
          <a:p>
            <a:pPr>
              <a:spcBef>
                <a:spcPts val="1000"/>
              </a:spcBef>
              <a:spcAft>
                <a:spcPts val="600"/>
              </a:spcAft>
              <a:defRPr sz="2000">
                <a:solidFill>
                  <a:srgbClr val="FFFFFF"/>
                </a:solidFill>
              </a:defRPr>
            </a:pPr>
          </a:p>
          <a:p>
            <a:pPr>
              <a:spcBef>
                <a:spcPts val="1000"/>
              </a:spcBef>
              <a:spcAft>
                <a:spcPts val="600"/>
              </a:spcAft>
              <a:defRPr sz="2000">
                <a:solidFill>
                  <a:srgbClr val="FFFFFF"/>
                </a:solidFill>
              </a:defRPr>
            </a:pPr>
            <a:r>
              <a:t>• Brain Tumor Analysis</a:t>
            </a:r>
          </a:p>
          <a:p>
            <a:pPr lvl="1">
              <a:spcBef>
                <a:spcPts val="1000"/>
              </a:spcBef>
              <a:spcAft>
                <a:spcPts val="600"/>
              </a:spcAft>
              <a:defRPr sz="1800">
                <a:solidFill>
                  <a:srgbClr val="FFFFFF"/>
                </a:solidFill>
              </a:defRPr>
            </a:pPr>
            <a:r>
              <a:t>  - Glioma segmentation (enhancing, non-enhancing, edema)</a:t>
            </a:r>
          </a:p>
          <a:p>
            <a:pPr lvl="1">
              <a:spcBef>
                <a:spcPts val="1000"/>
              </a:spcBef>
              <a:spcAft>
                <a:spcPts val="600"/>
              </a:spcAft>
              <a:defRPr sz="1800">
                <a:solidFill>
                  <a:srgbClr val="FFFFFF"/>
                </a:solidFill>
              </a:defRPr>
            </a:pPr>
            <a:r>
              <a:t>  - Surgical planning and resection guidance</a:t>
            </a:r>
          </a:p>
          <a:p>
            <a:pPr lvl="1">
              <a:spcBef>
                <a:spcPts val="1000"/>
              </a:spcBef>
              <a:spcAft>
                <a:spcPts val="600"/>
              </a:spcAft>
              <a:defRPr sz="1800">
                <a:solidFill>
                  <a:srgbClr val="FFFFFF"/>
                </a:solidFill>
              </a:defRPr>
            </a:pPr>
            <a:r>
              <a:t>  - Radiotherapy target delineation</a:t>
            </a:r>
          </a:p>
          <a:p>
            <a:pPr>
              <a:spcBef>
                <a:spcPts val="1000"/>
              </a:spcBef>
              <a:spcAft>
                <a:spcPts val="600"/>
              </a:spcAft>
              <a:defRPr sz="2000">
                <a:solidFill>
                  <a:srgbClr val="FFFFFF"/>
                </a:solidFill>
              </a:defRPr>
            </a:pPr>
          </a:p>
          <a:p>
            <a:pPr>
              <a:spcBef>
                <a:spcPts val="1000"/>
              </a:spcBef>
              <a:spcAft>
                <a:spcPts val="600"/>
              </a:spcAft>
              <a:defRPr sz="2000">
                <a:solidFill>
                  <a:srgbClr val="FFFFFF"/>
                </a:solidFill>
              </a:defRPr>
            </a:pPr>
            <a:r>
              <a:t>• Organ Segmentation</a:t>
            </a:r>
          </a:p>
          <a:p>
            <a:pPr lvl="1">
              <a:spcBef>
                <a:spcPts val="1000"/>
              </a:spcBef>
              <a:spcAft>
                <a:spcPts val="600"/>
              </a:spcAft>
              <a:defRPr sz="1800">
                <a:solidFill>
                  <a:srgbClr val="FFFFFF"/>
                </a:solidFill>
              </a:defRPr>
            </a:pPr>
            <a:r>
              <a:t>  - Liver, kidney, heart segmentation for surgical planning</a:t>
            </a:r>
          </a:p>
          <a:p>
            <a:pPr lvl="1">
              <a:spcBef>
                <a:spcPts val="1000"/>
              </a:spcBef>
              <a:spcAft>
                <a:spcPts val="600"/>
              </a:spcAft>
              <a:defRPr sz="1800">
                <a:solidFill>
                  <a:srgbClr val="FFFFFF"/>
                </a:solidFill>
              </a:defRPr>
            </a:pPr>
            <a:r>
              <a:t>  - Cardiac chamber quantification for functional assessment</a:t>
            </a:r>
          </a:p>
          <a:p>
            <a:pPr lvl="1">
              <a:spcBef>
                <a:spcPts val="1000"/>
              </a:spcBef>
              <a:spcAft>
                <a:spcPts val="600"/>
              </a:spcAft>
              <a:defRPr sz="1800">
                <a:solidFill>
                  <a:srgbClr val="FFFFFF"/>
                </a:solidFill>
              </a:defRPr>
            </a:pPr>
            <a:r>
              <a:t>  - Multi-organ segmentation for radiation therapy planning</a:t>
            </a:r>
          </a:p>
        </p:txBody>
      </p:sp>
      <p:sp>
        <p:nvSpPr>
          <p:cNvPr id="5" name="TextBox 4"/>
          <p:cNvSpPr txBox="1"/>
          <p:nvPr/>
        </p:nvSpPr>
        <p:spPr>
          <a:xfrm>
            <a:off x="8412480" y="6400800"/>
            <a:ext cx="457200" cy="274320"/>
          </a:xfrm>
          <a:prstGeom prst="rect">
            <a:avLst/>
          </a:prstGeom>
          <a:noFill/>
        </p:spPr>
        <p:txBody>
          <a:bodyPr wrap="none">
            <a:spAutoFit/>
          </a:bodyPr>
          <a:lstStyle/>
          <a:p>
            <a:pPr algn="r">
              <a:defRPr sz="1400">
                <a:solidFill>
                  <a:srgbClr val="DCDCDC"/>
                </a:solidFill>
              </a:defRPr>
            </a:pPr>
            <a:r>
              <a:t>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93764"/>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none">
            <a:spAutoFit/>
          </a:bodyPr>
          <a:lstStyle/>
          <a:p>
            <a:pPr>
              <a:defRPr sz="4000" b="1">
                <a:solidFill>
                  <a:srgbClr val="FFFFFF"/>
                </a:solidFill>
              </a:defRPr>
            </a:pPr>
            <a:r>
              <a:t>The Challenge: Why Manual Segmentation Fails</a:t>
            </a:r>
          </a:p>
        </p:txBody>
      </p:sp>
      <p:sp>
        <p:nvSpPr>
          <p:cNvPr id="3" name="Rectangle 2"/>
          <p:cNvSpPr/>
          <p:nvPr/>
        </p:nvSpPr>
        <p:spPr>
          <a:xfrm>
            <a:off x="457200" y="1005840"/>
            <a:ext cx="8229600" cy="0"/>
          </a:xfrm>
          <a:prstGeom prst="rect">
            <a:avLst/>
          </a:prstGeom>
          <a:ln w="38100">
            <a:solidFill>
              <a:srgbClr val="FF8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7863840" cy="4846320"/>
          </a:xfrm>
          <a:prstGeom prst="rect">
            <a:avLst/>
          </a:prstGeom>
          <a:noFill/>
        </p:spPr>
        <p:txBody>
          <a:bodyPr wrap="square">
            <a:spAutoFit/>
          </a:bodyPr>
          <a:lstStyle/>
          <a:p>
            <a:pPr>
              <a:spcBef>
                <a:spcPts val="1000"/>
              </a:spcBef>
              <a:spcAft>
                <a:spcPts val="600"/>
              </a:spcAft>
              <a:defRPr sz="2000">
                <a:solidFill>
                  <a:srgbClr val="FFFFFF"/>
                </a:solidFill>
              </a:defRPr>
            </a:pPr>
            <a:r>
              <a:t>• Manual segmentation is the current gold standard BUT:</a:t>
            </a:r>
          </a:p>
          <a:p>
            <a:pPr>
              <a:spcBef>
                <a:spcPts val="1000"/>
              </a:spcBef>
              <a:spcAft>
                <a:spcPts val="600"/>
              </a:spcAft>
              <a:defRPr sz="2000">
                <a:solidFill>
                  <a:srgbClr val="FFFFFF"/>
                </a:solidFill>
              </a:defRPr>
            </a:pPr>
          </a:p>
          <a:p>
            <a:pPr>
              <a:spcBef>
                <a:spcPts val="1000"/>
              </a:spcBef>
              <a:spcAft>
                <a:spcPts val="600"/>
              </a:spcAft>
              <a:defRPr sz="2000">
                <a:solidFill>
                  <a:srgbClr val="FFFFFF"/>
                </a:solidFill>
              </a:defRPr>
            </a:pPr>
            <a:r>
              <a:t>• Time-Consuming</a:t>
            </a:r>
          </a:p>
          <a:p>
            <a:pPr lvl="1">
              <a:spcBef>
                <a:spcPts val="1000"/>
              </a:spcBef>
              <a:spcAft>
                <a:spcPts val="600"/>
              </a:spcAft>
              <a:defRPr sz="1800">
                <a:solidFill>
                  <a:srgbClr val="FFFFFF"/>
                </a:solidFill>
              </a:defRPr>
            </a:pPr>
            <a:r>
              <a:t>  - Single 3D MRI scan: 1-4 hours per expert radiologist</a:t>
            </a:r>
          </a:p>
          <a:p>
            <a:pPr lvl="1">
              <a:spcBef>
                <a:spcPts val="1000"/>
              </a:spcBef>
              <a:spcAft>
                <a:spcPts val="600"/>
              </a:spcAft>
              <a:defRPr sz="1800">
                <a:solidFill>
                  <a:srgbClr val="FFFFFF"/>
                </a:solidFill>
              </a:defRPr>
            </a:pPr>
            <a:r>
              <a:t>  - Hospital burden: thousands of scans per year</a:t>
            </a:r>
          </a:p>
          <a:p>
            <a:pPr>
              <a:spcBef>
                <a:spcPts val="1000"/>
              </a:spcBef>
              <a:spcAft>
                <a:spcPts val="600"/>
              </a:spcAft>
              <a:defRPr sz="2000">
                <a:solidFill>
                  <a:srgbClr val="FFFFFF"/>
                </a:solidFill>
              </a:defRPr>
            </a:pPr>
          </a:p>
          <a:p>
            <a:pPr>
              <a:spcBef>
                <a:spcPts val="1000"/>
              </a:spcBef>
              <a:spcAft>
                <a:spcPts val="600"/>
              </a:spcAft>
              <a:defRPr sz="2000">
                <a:solidFill>
                  <a:srgbClr val="FFFFFF"/>
                </a:solidFill>
              </a:defRPr>
            </a:pPr>
            <a:r>
              <a:t>• Inter-Observer Variability</a:t>
            </a:r>
          </a:p>
          <a:p>
            <a:pPr lvl="1">
              <a:spcBef>
                <a:spcPts val="1000"/>
              </a:spcBef>
              <a:spcAft>
                <a:spcPts val="600"/>
              </a:spcAft>
              <a:defRPr sz="1800">
                <a:solidFill>
                  <a:srgbClr val="FFFFFF"/>
                </a:solidFill>
              </a:defRPr>
            </a:pPr>
            <a:r>
              <a:t>  - Different radiologists produce different segmentations</a:t>
            </a:r>
          </a:p>
          <a:p>
            <a:pPr lvl="1">
              <a:spcBef>
                <a:spcPts val="1000"/>
              </a:spcBef>
              <a:spcAft>
                <a:spcPts val="600"/>
              </a:spcAft>
              <a:defRPr sz="1800">
                <a:solidFill>
                  <a:srgbClr val="FFFFFF"/>
                </a:solidFill>
              </a:defRPr>
            </a:pPr>
            <a:r>
              <a:t>  - Inconsistent boundaries and measurements</a:t>
            </a:r>
          </a:p>
          <a:p>
            <a:pPr>
              <a:spcBef>
                <a:spcPts val="1000"/>
              </a:spcBef>
              <a:spcAft>
                <a:spcPts val="600"/>
              </a:spcAft>
              <a:defRPr sz="2000">
                <a:solidFill>
                  <a:srgbClr val="FFFFFF"/>
                </a:solidFill>
              </a:defRPr>
            </a:pPr>
          </a:p>
          <a:p>
            <a:pPr>
              <a:spcBef>
                <a:spcPts val="1000"/>
              </a:spcBef>
              <a:spcAft>
                <a:spcPts val="600"/>
              </a:spcAft>
              <a:defRPr sz="2000">
                <a:solidFill>
                  <a:srgbClr val="FFFFFF"/>
                </a:solidFill>
              </a:defRPr>
            </a:pPr>
            <a:r>
              <a:t>• Subjective &amp; Error-Prone</a:t>
            </a:r>
          </a:p>
          <a:p>
            <a:pPr lvl="1">
              <a:spcBef>
                <a:spcPts val="1000"/>
              </a:spcBef>
              <a:spcAft>
                <a:spcPts val="600"/>
              </a:spcAft>
              <a:defRPr sz="1800">
                <a:solidFill>
                  <a:srgbClr val="FFFFFF"/>
                </a:solidFill>
              </a:defRPr>
            </a:pPr>
            <a:r>
              <a:t>  - Human fatigue affects accuracy</a:t>
            </a:r>
          </a:p>
          <a:p>
            <a:pPr lvl="1">
              <a:spcBef>
                <a:spcPts val="1000"/>
              </a:spcBef>
              <a:spcAft>
                <a:spcPts val="600"/>
              </a:spcAft>
              <a:defRPr sz="1800">
                <a:solidFill>
                  <a:srgbClr val="FFFFFF"/>
                </a:solidFill>
              </a:defRPr>
            </a:pPr>
            <a:r>
              <a:t>  - Subtle pathologies may be missed</a:t>
            </a:r>
          </a:p>
          <a:p>
            <a:pPr>
              <a:spcBef>
                <a:spcPts val="1000"/>
              </a:spcBef>
              <a:spcAft>
                <a:spcPts val="600"/>
              </a:spcAft>
              <a:defRPr sz="2000">
                <a:solidFill>
                  <a:srgbClr val="FFFFFF"/>
                </a:solidFill>
              </a:defRPr>
            </a:pPr>
          </a:p>
          <a:p>
            <a:pPr>
              <a:spcBef>
                <a:spcPts val="1000"/>
              </a:spcBef>
              <a:spcAft>
                <a:spcPts val="600"/>
              </a:spcAft>
              <a:defRPr sz="2000">
                <a:solidFill>
                  <a:srgbClr val="FFFFFF"/>
                </a:solidFill>
              </a:defRPr>
            </a:pPr>
            <a:r>
              <a:t>• Not Scalable</a:t>
            </a:r>
          </a:p>
          <a:p>
            <a:pPr lvl="1">
              <a:spcBef>
                <a:spcPts val="1000"/>
              </a:spcBef>
              <a:spcAft>
                <a:spcPts val="600"/>
              </a:spcAft>
              <a:defRPr sz="1800">
                <a:solidFill>
                  <a:srgbClr val="FFFFFF"/>
                </a:solidFill>
              </a:defRPr>
            </a:pPr>
            <a:r>
              <a:t>  - Cannot meet increasing demand for medical imaging</a:t>
            </a:r>
          </a:p>
          <a:p>
            <a:pPr lvl="1">
              <a:spcBef>
                <a:spcPts val="1000"/>
              </a:spcBef>
              <a:spcAft>
                <a:spcPts val="600"/>
              </a:spcAft>
              <a:defRPr sz="1800">
                <a:solidFill>
                  <a:srgbClr val="FFFFFF"/>
                </a:solidFill>
              </a:defRPr>
            </a:pPr>
            <a:r>
              <a:t>  - Limited availability of expert radiologists</a:t>
            </a:r>
          </a:p>
        </p:txBody>
      </p:sp>
      <p:sp>
        <p:nvSpPr>
          <p:cNvPr id="5" name="TextBox 4"/>
          <p:cNvSpPr txBox="1"/>
          <p:nvPr/>
        </p:nvSpPr>
        <p:spPr>
          <a:xfrm>
            <a:off x="8412480" y="6400800"/>
            <a:ext cx="457200" cy="274320"/>
          </a:xfrm>
          <a:prstGeom prst="rect">
            <a:avLst/>
          </a:prstGeom>
          <a:noFill/>
        </p:spPr>
        <p:txBody>
          <a:bodyPr wrap="none">
            <a:spAutoFit/>
          </a:bodyPr>
          <a:lstStyle/>
          <a:p>
            <a:pPr algn="r">
              <a:defRPr sz="1400">
                <a:solidFill>
                  <a:srgbClr val="DCDCDC"/>
                </a:solidFill>
              </a:defRPr>
            </a:pPr>
            <a:r>
              <a:t>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93764"/>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none">
            <a:spAutoFit/>
          </a:bodyPr>
          <a:lstStyle/>
          <a:p>
            <a:pPr>
              <a:defRPr sz="4000" b="1">
                <a:solidFill>
                  <a:srgbClr val="FFFFFF"/>
                </a:solidFill>
              </a:defRPr>
            </a:pPr>
            <a:r>
              <a:t>Why Deep Learning?</a:t>
            </a:r>
          </a:p>
        </p:txBody>
      </p:sp>
      <p:sp>
        <p:nvSpPr>
          <p:cNvPr id="3" name="Rectangle 2"/>
          <p:cNvSpPr/>
          <p:nvPr/>
        </p:nvSpPr>
        <p:spPr>
          <a:xfrm>
            <a:off x="457200" y="1005840"/>
            <a:ext cx="8229600" cy="0"/>
          </a:xfrm>
          <a:prstGeom prst="rect">
            <a:avLst/>
          </a:prstGeom>
          <a:ln w="38100">
            <a:solidFill>
              <a:srgbClr val="FF8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7863840" cy="4846320"/>
          </a:xfrm>
          <a:prstGeom prst="rect">
            <a:avLst/>
          </a:prstGeom>
          <a:noFill/>
        </p:spPr>
        <p:txBody>
          <a:bodyPr wrap="square">
            <a:spAutoFit/>
          </a:bodyPr>
          <a:lstStyle/>
          <a:p>
            <a:pPr>
              <a:spcBef>
                <a:spcPts val="1000"/>
              </a:spcBef>
              <a:spcAft>
                <a:spcPts val="600"/>
              </a:spcAft>
              <a:defRPr sz="2000">
                <a:solidFill>
                  <a:srgbClr val="FFFFFF"/>
                </a:solidFill>
              </a:defRPr>
            </a:pPr>
            <a:r>
              <a:t>• Advantages over Traditional Methods:</a:t>
            </a:r>
          </a:p>
          <a:p>
            <a:pPr>
              <a:spcBef>
                <a:spcPts val="1000"/>
              </a:spcBef>
              <a:spcAft>
                <a:spcPts val="600"/>
              </a:spcAft>
              <a:defRPr sz="2000">
                <a:solidFill>
                  <a:srgbClr val="FFFFFF"/>
                </a:solidFill>
              </a:defRPr>
            </a:pPr>
          </a:p>
          <a:p>
            <a:pPr>
              <a:spcBef>
                <a:spcPts val="1000"/>
              </a:spcBef>
              <a:spcAft>
                <a:spcPts val="600"/>
              </a:spcAft>
              <a:defRPr sz="2000">
                <a:solidFill>
                  <a:srgbClr val="FFFFFF"/>
                </a:solidFill>
              </a:defRPr>
            </a:pPr>
            <a:r>
              <a:t>• End-to-End Learning</a:t>
            </a:r>
          </a:p>
          <a:p>
            <a:pPr lvl="1">
              <a:spcBef>
                <a:spcPts val="1000"/>
              </a:spcBef>
              <a:spcAft>
                <a:spcPts val="600"/>
              </a:spcAft>
              <a:defRPr sz="1800">
                <a:solidFill>
                  <a:srgbClr val="FFFFFF"/>
                </a:solidFill>
              </a:defRPr>
            </a:pPr>
            <a:r>
              <a:t>  - Learns features automatically from data</a:t>
            </a:r>
          </a:p>
          <a:p>
            <a:pPr lvl="1">
              <a:spcBef>
                <a:spcPts val="1000"/>
              </a:spcBef>
              <a:spcAft>
                <a:spcPts val="600"/>
              </a:spcAft>
              <a:defRPr sz="1800">
                <a:solidFill>
                  <a:srgbClr val="FFFFFF"/>
                </a:solidFill>
              </a:defRPr>
            </a:pPr>
            <a:r>
              <a:t>  - No hand-crafted feature engineering required</a:t>
            </a:r>
          </a:p>
          <a:p>
            <a:pPr>
              <a:spcBef>
                <a:spcPts val="1000"/>
              </a:spcBef>
              <a:spcAft>
                <a:spcPts val="600"/>
              </a:spcAft>
              <a:defRPr sz="2000">
                <a:solidFill>
                  <a:srgbClr val="FFFFFF"/>
                </a:solidFill>
              </a:defRPr>
            </a:pPr>
          </a:p>
          <a:p>
            <a:pPr>
              <a:spcBef>
                <a:spcPts val="1000"/>
              </a:spcBef>
              <a:spcAft>
                <a:spcPts val="600"/>
              </a:spcAft>
              <a:defRPr sz="2000">
                <a:solidFill>
                  <a:srgbClr val="FFFFFF"/>
                </a:solidFill>
              </a:defRPr>
            </a:pPr>
            <a:r>
              <a:t>• Superior Performance</a:t>
            </a:r>
          </a:p>
          <a:p>
            <a:pPr lvl="1">
              <a:spcBef>
                <a:spcPts val="1000"/>
              </a:spcBef>
              <a:spcAft>
                <a:spcPts val="600"/>
              </a:spcAft>
              <a:defRPr sz="1800">
                <a:solidFill>
                  <a:srgbClr val="FFFFFF"/>
                </a:solidFill>
              </a:defRPr>
            </a:pPr>
            <a:r>
              <a:t>  - Matches or exceeds human expert performance</a:t>
            </a:r>
          </a:p>
          <a:p>
            <a:pPr lvl="1">
              <a:spcBef>
                <a:spcPts val="1000"/>
              </a:spcBef>
              <a:spcAft>
                <a:spcPts val="600"/>
              </a:spcAft>
              <a:defRPr sz="1800">
                <a:solidFill>
                  <a:srgbClr val="FFFFFF"/>
                </a:solidFill>
              </a:defRPr>
            </a:pPr>
            <a:r>
              <a:t>  - Handles complex, high-dimensional data</a:t>
            </a:r>
          </a:p>
          <a:p>
            <a:pPr>
              <a:spcBef>
                <a:spcPts val="1000"/>
              </a:spcBef>
              <a:spcAft>
                <a:spcPts val="600"/>
              </a:spcAft>
              <a:defRPr sz="2000">
                <a:solidFill>
                  <a:srgbClr val="FFFFFF"/>
                </a:solidFill>
              </a:defRPr>
            </a:pPr>
          </a:p>
          <a:p>
            <a:pPr>
              <a:spcBef>
                <a:spcPts val="1000"/>
              </a:spcBef>
              <a:spcAft>
                <a:spcPts val="600"/>
              </a:spcAft>
              <a:defRPr sz="2000">
                <a:solidFill>
                  <a:srgbClr val="FFFFFF"/>
                </a:solidFill>
              </a:defRPr>
            </a:pPr>
            <a:r>
              <a:t>• Speed &amp; Consistency</a:t>
            </a:r>
          </a:p>
          <a:p>
            <a:pPr lvl="1">
              <a:spcBef>
                <a:spcPts val="1000"/>
              </a:spcBef>
              <a:spcAft>
                <a:spcPts val="600"/>
              </a:spcAft>
              <a:defRPr sz="1800">
                <a:solidFill>
                  <a:srgbClr val="FFFFFF"/>
                </a:solidFill>
              </a:defRPr>
            </a:pPr>
            <a:r>
              <a:t>  - Inference in seconds instead of hours</a:t>
            </a:r>
          </a:p>
          <a:p>
            <a:pPr lvl="1">
              <a:spcBef>
                <a:spcPts val="1000"/>
              </a:spcBef>
              <a:spcAft>
                <a:spcPts val="600"/>
              </a:spcAft>
              <a:defRPr sz="1800">
                <a:solidFill>
                  <a:srgbClr val="FFFFFF"/>
                </a:solidFill>
              </a:defRPr>
            </a:pPr>
            <a:r>
              <a:t>  - Reproducible results with zero inter-observer variability</a:t>
            </a:r>
          </a:p>
          <a:p>
            <a:pPr>
              <a:spcBef>
                <a:spcPts val="1000"/>
              </a:spcBef>
              <a:spcAft>
                <a:spcPts val="600"/>
              </a:spcAft>
              <a:defRPr sz="2000">
                <a:solidFill>
                  <a:srgbClr val="FFFFFF"/>
                </a:solidFill>
              </a:defRPr>
            </a:pPr>
          </a:p>
          <a:p>
            <a:pPr>
              <a:spcBef>
                <a:spcPts val="1000"/>
              </a:spcBef>
              <a:spcAft>
                <a:spcPts val="600"/>
              </a:spcAft>
              <a:defRPr sz="2000">
                <a:solidFill>
                  <a:srgbClr val="FFFFFF"/>
                </a:solidFill>
              </a:defRPr>
            </a:pPr>
            <a:r>
              <a:t>• Continuous Improvement</a:t>
            </a:r>
          </a:p>
          <a:p>
            <a:pPr lvl="1">
              <a:spcBef>
                <a:spcPts val="1000"/>
              </a:spcBef>
              <a:spcAft>
                <a:spcPts val="600"/>
              </a:spcAft>
              <a:defRPr sz="1800">
                <a:solidFill>
                  <a:srgbClr val="FFFFFF"/>
                </a:solidFill>
              </a:defRPr>
            </a:pPr>
            <a:r>
              <a:t>  - Performance improves with more training data</a:t>
            </a:r>
          </a:p>
          <a:p>
            <a:pPr lvl="1">
              <a:spcBef>
                <a:spcPts val="1000"/>
              </a:spcBef>
              <a:spcAft>
                <a:spcPts val="600"/>
              </a:spcAft>
              <a:defRPr sz="1800">
                <a:solidFill>
                  <a:srgbClr val="FFFFFF"/>
                </a:solidFill>
              </a:defRPr>
            </a:pPr>
            <a:r>
              <a:t>  - Transfer learning leverages pre-trained models</a:t>
            </a:r>
          </a:p>
        </p:txBody>
      </p:sp>
      <p:sp>
        <p:nvSpPr>
          <p:cNvPr id="5" name="TextBox 4"/>
          <p:cNvSpPr txBox="1"/>
          <p:nvPr/>
        </p:nvSpPr>
        <p:spPr>
          <a:xfrm>
            <a:off x="8412480" y="6400800"/>
            <a:ext cx="457200" cy="274320"/>
          </a:xfrm>
          <a:prstGeom prst="rect">
            <a:avLst/>
          </a:prstGeom>
          <a:noFill/>
        </p:spPr>
        <p:txBody>
          <a:bodyPr wrap="none">
            <a:spAutoFit/>
          </a:bodyPr>
          <a:lstStyle/>
          <a:p>
            <a:pPr algn="r">
              <a:defRPr sz="1400">
                <a:solidFill>
                  <a:srgbClr val="DCDCDC"/>
                </a:solidFill>
              </a:defRPr>
            </a:pPr>
            <a:r>
              <a:t>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93764"/>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none">
            <a:spAutoFit/>
          </a:bodyPr>
          <a:lstStyle/>
          <a:p>
            <a:pPr>
              <a:defRPr sz="4000" b="1">
                <a:solidFill>
                  <a:srgbClr val="FFFFFF"/>
                </a:solidFill>
              </a:defRPr>
            </a:pPr>
            <a:r>
              <a:t>Traditional Methods (Pre-2015)</a:t>
            </a:r>
          </a:p>
        </p:txBody>
      </p:sp>
      <p:sp>
        <p:nvSpPr>
          <p:cNvPr id="3" name="Rectangle 2"/>
          <p:cNvSpPr/>
          <p:nvPr/>
        </p:nvSpPr>
        <p:spPr>
          <a:xfrm>
            <a:off x="457200" y="1005840"/>
            <a:ext cx="8229600" cy="0"/>
          </a:xfrm>
          <a:prstGeom prst="rect">
            <a:avLst/>
          </a:prstGeom>
          <a:ln w="38100">
            <a:solidFill>
              <a:srgbClr val="FF8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7863840" cy="4846320"/>
          </a:xfrm>
          <a:prstGeom prst="rect">
            <a:avLst/>
          </a:prstGeom>
          <a:noFill/>
        </p:spPr>
        <p:txBody>
          <a:bodyPr wrap="square">
            <a:spAutoFit/>
          </a:bodyPr>
          <a:lstStyle/>
          <a:p>
            <a:pPr>
              <a:spcBef>
                <a:spcPts val="1000"/>
              </a:spcBef>
              <a:spcAft>
                <a:spcPts val="600"/>
              </a:spcAft>
              <a:defRPr sz="2000">
                <a:solidFill>
                  <a:srgbClr val="FFFFFF"/>
                </a:solidFill>
              </a:defRPr>
            </a:pPr>
            <a:r>
              <a:t>• Thresholding &amp; Region Growing</a:t>
            </a:r>
          </a:p>
          <a:p>
            <a:pPr lvl="1">
              <a:spcBef>
                <a:spcPts val="1000"/>
              </a:spcBef>
              <a:spcAft>
                <a:spcPts val="600"/>
              </a:spcAft>
              <a:defRPr sz="1800">
                <a:solidFill>
                  <a:srgbClr val="FFFFFF"/>
                </a:solidFill>
              </a:defRPr>
            </a:pPr>
            <a:r>
              <a:t>  - Simple pixel intensity-based methods</a:t>
            </a:r>
          </a:p>
          <a:p>
            <a:pPr lvl="1">
              <a:spcBef>
                <a:spcPts val="1000"/>
              </a:spcBef>
              <a:spcAft>
                <a:spcPts val="600"/>
              </a:spcAft>
              <a:defRPr sz="1800">
                <a:solidFill>
                  <a:srgbClr val="FFFFFF"/>
                </a:solidFill>
              </a:defRPr>
            </a:pPr>
            <a:r>
              <a:t>  - Limited to homogeneous regions, sensitive to noise</a:t>
            </a:r>
          </a:p>
          <a:p>
            <a:pPr>
              <a:spcBef>
                <a:spcPts val="1000"/>
              </a:spcBef>
              <a:spcAft>
                <a:spcPts val="600"/>
              </a:spcAft>
              <a:defRPr sz="2000">
                <a:solidFill>
                  <a:srgbClr val="FFFFFF"/>
                </a:solidFill>
              </a:defRPr>
            </a:pPr>
          </a:p>
          <a:p>
            <a:pPr>
              <a:spcBef>
                <a:spcPts val="1000"/>
              </a:spcBef>
              <a:spcAft>
                <a:spcPts val="600"/>
              </a:spcAft>
              <a:defRPr sz="2000">
                <a:solidFill>
                  <a:srgbClr val="FFFFFF"/>
                </a:solidFill>
              </a:defRPr>
            </a:pPr>
            <a:r>
              <a:t>• Active Contours (Snakes)</a:t>
            </a:r>
          </a:p>
          <a:p>
            <a:pPr lvl="1">
              <a:spcBef>
                <a:spcPts val="1000"/>
              </a:spcBef>
              <a:spcAft>
                <a:spcPts val="600"/>
              </a:spcAft>
              <a:defRPr sz="1800">
                <a:solidFill>
                  <a:srgbClr val="FFFFFF"/>
                </a:solidFill>
              </a:defRPr>
            </a:pPr>
            <a:r>
              <a:t>  - Iteratively deform contour to match boundaries</a:t>
            </a:r>
          </a:p>
          <a:p>
            <a:pPr lvl="1">
              <a:spcBef>
                <a:spcPts val="1000"/>
              </a:spcBef>
              <a:spcAft>
                <a:spcPts val="600"/>
              </a:spcAft>
              <a:defRPr sz="1800">
                <a:solidFill>
                  <a:srgbClr val="FFFFFF"/>
                </a:solidFill>
              </a:defRPr>
            </a:pPr>
            <a:r>
              <a:t>  - Requires good initialization, local minima issues</a:t>
            </a:r>
          </a:p>
          <a:p>
            <a:pPr>
              <a:spcBef>
                <a:spcPts val="1000"/>
              </a:spcBef>
              <a:spcAft>
                <a:spcPts val="600"/>
              </a:spcAft>
              <a:defRPr sz="2000">
                <a:solidFill>
                  <a:srgbClr val="FFFFFF"/>
                </a:solidFill>
              </a:defRPr>
            </a:pPr>
          </a:p>
          <a:p>
            <a:pPr>
              <a:spcBef>
                <a:spcPts val="1000"/>
              </a:spcBef>
              <a:spcAft>
                <a:spcPts val="600"/>
              </a:spcAft>
              <a:defRPr sz="2000">
                <a:solidFill>
                  <a:srgbClr val="FFFFFF"/>
                </a:solidFill>
              </a:defRPr>
            </a:pPr>
            <a:r>
              <a:t>• Atlas-Based Segmentation</a:t>
            </a:r>
          </a:p>
          <a:p>
            <a:pPr lvl="1">
              <a:spcBef>
                <a:spcPts val="1000"/>
              </a:spcBef>
              <a:spcAft>
                <a:spcPts val="600"/>
              </a:spcAft>
              <a:defRPr sz="1800">
                <a:solidFill>
                  <a:srgbClr val="FFFFFF"/>
                </a:solidFill>
              </a:defRPr>
            </a:pPr>
            <a:r>
              <a:t>  - Register pre-segmented atlas to new image</a:t>
            </a:r>
          </a:p>
          <a:p>
            <a:pPr lvl="1">
              <a:spcBef>
                <a:spcPts val="1000"/>
              </a:spcBef>
              <a:spcAft>
                <a:spcPts val="600"/>
              </a:spcAft>
              <a:defRPr sz="1800">
                <a:solidFill>
                  <a:srgbClr val="FFFFFF"/>
                </a:solidFill>
              </a:defRPr>
            </a:pPr>
            <a:r>
              <a:t>  - Limited by registration accuracy and anatomical variation</a:t>
            </a:r>
          </a:p>
          <a:p>
            <a:pPr>
              <a:spcBef>
                <a:spcPts val="1000"/>
              </a:spcBef>
              <a:spcAft>
                <a:spcPts val="600"/>
              </a:spcAft>
              <a:defRPr sz="2000">
                <a:solidFill>
                  <a:srgbClr val="FFFFFF"/>
                </a:solidFill>
              </a:defRPr>
            </a:pPr>
          </a:p>
          <a:p>
            <a:pPr>
              <a:spcBef>
                <a:spcPts val="1000"/>
              </a:spcBef>
              <a:spcAft>
                <a:spcPts val="600"/>
              </a:spcAft>
              <a:defRPr sz="2000">
                <a:solidFill>
                  <a:srgbClr val="FFFFFF"/>
                </a:solidFill>
              </a:defRPr>
            </a:pPr>
            <a:r>
              <a:t>• Limitations:</a:t>
            </a:r>
          </a:p>
          <a:p>
            <a:pPr lvl="1">
              <a:spcBef>
                <a:spcPts val="1000"/>
              </a:spcBef>
              <a:spcAft>
                <a:spcPts val="600"/>
              </a:spcAft>
              <a:defRPr sz="1800">
                <a:solidFill>
                  <a:srgbClr val="FFFFFF"/>
                </a:solidFill>
              </a:defRPr>
            </a:pPr>
            <a:r>
              <a:t>  - Required domain expertise for feature engineering</a:t>
            </a:r>
          </a:p>
          <a:p>
            <a:pPr lvl="1">
              <a:spcBef>
                <a:spcPts val="1000"/>
              </a:spcBef>
              <a:spcAft>
                <a:spcPts val="600"/>
              </a:spcAft>
              <a:defRPr sz="1800">
                <a:solidFill>
                  <a:srgbClr val="FFFFFF"/>
                </a:solidFill>
              </a:defRPr>
            </a:pPr>
            <a:r>
              <a:t>  - Poor generalization to different imaging modalities</a:t>
            </a:r>
          </a:p>
          <a:p>
            <a:pPr lvl="1">
              <a:spcBef>
                <a:spcPts val="1000"/>
              </a:spcBef>
              <a:spcAft>
                <a:spcPts val="600"/>
              </a:spcAft>
              <a:defRPr sz="1800">
                <a:solidFill>
                  <a:srgbClr val="FFFFFF"/>
                </a:solidFill>
              </a:defRPr>
            </a:pPr>
            <a:r>
              <a:t>  - Failed on complex, heterogeneous pathologies</a:t>
            </a:r>
          </a:p>
        </p:txBody>
      </p:sp>
      <p:sp>
        <p:nvSpPr>
          <p:cNvPr id="5" name="TextBox 4"/>
          <p:cNvSpPr txBox="1"/>
          <p:nvPr/>
        </p:nvSpPr>
        <p:spPr>
          <a:xfrm>
            <a:off x="8412480" y="6400800"/>
            <a:ext cx="457200" cy="274320"/>
          </a:xfrm>
          <a:prstGeom prst="rect">
            <a:avLst/>
          </a:prstGeom>
          <a:noFill/>
        </p:spPr>
        <p:txBody>
          <a:bodyPr wrap="none">
            <a:spAutoFit/>
          </a:bodyPr>
          <a:lstStyle/>
          <a:p>
            <a:pPr algn="r">
              <a:defRPr sz="1400">
                <a:solidFill>
                  <a:srgbClr val="DCDCDC"/>
                </a:solidFill>
              </a:defRPr>
            </a:pPr>
            <a:r>
              <a:t>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93764"/>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none">
            <a:spAutoFit/>
          </a:bodyPr>
          <a:lstStyle/>
          <a:p>
            <a:pPr>
              <a:defRPr sz="4000" b="1">
                <a:solidFill>
                  <a:srgbClr val="FFFFFF"/>
                </a:solidFill>
              </a:defRPr>
            </a:pPr>
            <a:r>
              <a:t>FCN - Fully Convolutional Networks (2015)</a:t>
            </a:r>
          </a:p>
        </p:txBody>
      </p:sp>
      <p:sp>
        <p:nvSpPr>
          <p:cNvPr id="3" name="Rectangle 2"/>
          <p:cNvSpPr/>
          <p:nvPr/>
        </p:nvSpPr>
        <p:spPr>
          <a:xfrm>
            <a:off x="457200" y="1005840"/>
            <a:ext cx="8229600" cy="0"/>
          </a:xfrm>
          <a:prstGeom prst="rect">
            <a:avLst/>
          </a:prstGeom>
          <a:ln w="38100">
            <a:solidFill>
              <a:srgbClr val="FF8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7863840" cy="4846320"/>
          </a:xfrm>
          <a:prstGeom prst="rect">
            <a:avLst/>
          </a:prstGeom>
          <a:noFill/>
        </p:spPr>
        <p:txBody>
          <a:bodyPr wrap="square">
            <a:spAutoFit/>
          </a:bodyPr>
          <a:lstStyle/>
          <a:p>
            <a:pPr>
              <a:spcBef>
                <a:spcPts val="1000"/>
              </a:spcBef>
              <a:spcAft>
                <a:spcPts val="600"/>
              </a:spcAft>
              <a:defRPr sz="2000">
                <a:solidFill>
                  <a:srgbClr val="FFFFFF"/>
                </a:solidFill>
              </a:defRPr>
            </a:pPr>
            <a:r>
              <a:t>• Long, J., Shelhamer, E., &amp; Darrell, T. (2015)</a:t>
            </a:r>
          </a:p>
          <a:p>
            <a:pPr>
              <a:spcBef>
                <a:spcPts val="1000"/>
              </a:spcBef>
              <a:spcAft>
                <a:spcPts val="600"/>
              </a:spcAft>
              <a:defRPr sz="2000">
                <a:solidFill>
                  <a:srgbClr val="FFFFFF"/>
                </a:solidFill>
              </a:defRPr>
            </a:pPr>
            <a:r>
              <a:t>  'Fully Convolutional Networks for Semantic Segmentation'</a:t>
            </a:r>
          </a:p>
          <a:p>
            <a:pPr>
              <a:spcBef>
                <a:spcPts val="1000"/>
              </a:spcBef>
              <a:spcAft>
                <a:spcPts val="600"/>
              </a:spcAft>
              <a:defRPr sz="2000">
                <a:solidFill>
                  <a:srgbClr val="FFFFFF"/>
                </a:solidFill>
              </a:defRPr>
            </a:pPr>
            <a:r>
              <a:t>  CVPR 2015</a:t>
            </a:r>
          </a:p>
          <a:p>
            <a:pPr>
              <a:spcBef>
                <a:spcPts val="1000"/>
              </a:spcBef>
              <a:spcAft>
                <a:spcPts val="600"/>
              </a:spcAft>
              <a:defRPr sz="2000">
                <a:solidFill>
                  <a:srgbClr val="FFFFFF"/>
                </a:solidFill>
              </a:defRPr>
            </a:pPr>
          </a:p>
          <a:p>
            <a:pPr>
              <a:spcBef>
                <a:spcPts val="1000"/>
              </a:spcBef>
              <a:spcAft>
                <a:spcPts val="600"/>
              </a:spcAft>
              <a:defRPr sz="2000">
                <a:solidFill>
                  <a:srgbClr val="FFFFFF"/>
                </a:solidFill>
              </a:defRPr>
            </a:pPr>
            <a:r>
              <a:t>• Key Innovation: Replace fully connected layers with convolutions</a:t>
            </a:r>
          </a:p>
          <a:p>
            <a:pPr lvl="1">
              <a:spcBef>
                <a:spcPts val="1000"/>
              </a:spcBef>
              <a:spcAft>
                <a:spcPts val="600"/>
              </a:spcAft>
              <a:defRPr sz="1800">
                <a:solidFill>
                  <a:srgbClr val="FFFFFF"/>
                </a:solidFill>
              </a:defRPr>
            </a:pPr>
            <a:r>
              <a:t>  - Accepts arbitrary input sizes</a:t>
            </a:r>
          </a:p>
          <a:p>
            <a:pPr lvl="1">
              <a:spcBef>
                <a:spcPts val="1000"/>
              </a:spcBef>
              <a:spcAft>
                <a:spcPts val="600"/>
              </a:spcAft>
              <a:defRPr sz="1800">
                <a:solidFill>
                  <a:srgbClr val="FFFFFF"/>
                </a:solidFill>
              </a:defRPr>
            </a:pPr>
            <a:r>
              <a:t>  - Outputs spatial segmentation maps</a:t>
            </a:r>
          </a:p>
          <a:p>
            <a:pPr lvl="1">
              <a:spcBef>
                <a:spcPts val="1000"/>
              </a:spcBef>
              <a:spcAft>
                <a:spcPts val="600"/>
              </a:spcAft>
              <a:defRPr sz="1800">
                <a:solidFill>
                  <a:srgbClr val="FFFFFF"/>
                </a:solidFill>
              </a:defRPr>
            </a:pPr>
            <a:r>
              <a:t>  - Uses skip connections to combine coarse and fine features</a:t>
            </a:r>
          </a:p>
          <a:p>
            <a:pPr>
              <a:spcBef>
                <a:spcPts val="1000"/>
              </a:spcBef>
              <a:spcAft>
                <a:spcPts val="600"/>
              </a:spcAft>
              <a:defRPr sz="2000">
                <a:solidFill>
                  <a:srgbClr val="FFFFFF"/>
                </a:solidFill>
              </a:defRPr>
            </a:pPr>
          </a:p>
          <a:p>
            <a:pPr>
              <a:spcBef>
                <a:spcPts val="1000"/>
              </a:spcBef>
              <a:spcAft>
                <a:spcPts val="600"/>
              </a:spcAft>
              <a:defRPr sz="2000">
                <a:solidFill>
                  <a:srgbClr val="FFFFFF"/>
                </a:solidFill>
              </a:defRPr>
            </a:pPr>
            <a:r>
              <a:t>• Architecture: Encoder (VGG) + Decoder (transposed convolutions)</a:t>
            </a:r>
          </a:p>
          <a:p>
            <a:pPr>
              <a:spcBef>
                <a:spcPts val="1000"/>
              </a:spcBef>
              <a:spcAft>
                <a:spcPts val="600"/>
              </a:spcAft>
              <a:defRPr sz="2000">
                <a:solidFill>
                  <a:srgbClr val="FFFFFF"/>
                </a:solidFill>
              </a:defRPr>
            </a:pPr>
          </a:p>
          <a:p>
            <a:pPr>
              <a:spcBef>
                <a:spcPts val="1000"/>
              </a:spcBef>
              <a:spcAft>
                <a:spcPts val="600"/>
              </a:spcAft>
              <a:defRPr sz="2000">
                <a:solidFill>
                  <a:srgbClr val="FFFFFF"/>
                </a:solidFill>
              </a:defRPr>
            </a:pPr>
            <a:r>
              <a:t>• Results: PASCAL VOC 2012 - 62.2% mean IU</a:t>
            </a:r>
          </a:p>
          <a:p>
            <a:pPr>
              <a:spcBef>
                <a:spcPts val="1000"/>
              </a:spcBef>
              <a:spcAft>
                <a:spcPts val="600"/>
              </a:spcAft>
              <a:defRPr sz="2000">
                <a:solidFill>
                  <a:srgbClr val="FFFFFF"/>
                </a:solidFill>
              </a:defRPr>
            </a:pPr>
          </a:p>
          <a:p>
            <a:pPr>
              <a:spcBef>
                <a:spcPts val="1000"/>
              </a:spcBef>
              <a:spcAft>
                <a:spcPts val="600"/>
              </a:spcAft>
              <a:defRPr sz="2000">
                <a:solidFill>
                  <a:srgbClr val="FFFFFF"/>
                </a:solidFill>
              </a:defRPr>
            </a:pPr>
            <a:r>
              <a:t>• Impact: Pioneered end-to-end learning for dense prediction</a:t>
            </a:r>
          </a:p>
        </p:txBody>
      </p:sp>
      <p:sp>
        <p:nvSpPr>
          <p:cNvPr id="5" name="TextBox 4"/>
          <p:cNvSpPr txBox="1"/>
          <p:nvPr/>
        </p:nvSpPr>
        <p:spPr>
          <a:xfrm>
            <a:off x="8412480" y="6400800"/>
            <a:ext cx="457200" cy="274320"/>
          </a:xfrm>
          <a:prstGeom prst="rect">
            <a:avLst/>
          </a:prstGeom>
          <a:noFill/>
        </p:spPr>
        <p:txBody>
          <a:bodyPr wrap="none">
            <a:spAutoFit/>
          </a:bodyPr>
          <a:lstStyle/>
          <a:p>
            <a:pPr algn="r">
              <a:defRPr sz="1400">
                <a:solidFill>
                  <a:srgbClr val="DCDCDC"/>
                </a:solidFill>
              </a:defRPr>
            </a:pPr>
            <a:r>
              <a:t>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93764"/>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none">
            <a:spAutoFit/>
          </a:bodyPr>
          <a:lstStyle/>
          <a:p>
            <a:pPr>
              <a:defRPr sz="4000" b="1">
                <a:solidFill>
                  <a:srgbClr val="FFFFFF"/>
                </a:solidFill>
              </a:defRPr>
            </a:pPr>
            <a:r>
              <a:t>U-Net - The Breakthrough (2015)</a:t>
            </a:r>
          </a:p>
        </p:txBody>
      </p:sp>
      <p:sp>
        <p:nvSpPr>
          <p:cNvPr id="3" name="Rectangle 2"/>
          <p:cNvSpPr/>
          <p:nvPr/>
        </p:nvSpPr>
        <p:spPr>
          <a:xfrm>
            <a:off x="457200" y="1005840"/>
            <a:ext cx="8229600" cy="0"/>
          </a:xfrm>
          <a:prstGeom prst="rect">
            <a:avLst/>
          </a:prstGeom>
          <a:ln w="38100">
            <a:solidFill>
              <a:srgbClr val="FF8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7863840" cy="4846320"/>
          </a:xfrm>
          <a:prstGeom prst="rect">
            <a:avLst/>
          </a:prstGeom>
          <a:noFill/>
        </p:spPr>
        <p:txBody>
          <a:bodyPr wrap="square">
            <a:spAutoFit/>
          </a:bodyPr>
          <a:lstStyle/>
          <a:p>
            <a:pPr>
              <a:spcBef>
                <a:spcPts val="1000"/>
              </a:spcBef>
              <a:spcAft>
                <a:spcPts val="600"/>
              </a:spcAft>
              <a:defRPr sz="2000">
                <a:solidFill>
                  <a:srgbClr val="FFFFFF"/>
                </a:solidFill>
              </a:defRPr>
            </a:pPr>
            <a:r>
              <a:t>• Ronneberger, O., Fischer, P., &amp; Brox, T. (2015)</a:t>
            </a:r>
          </a:p>
          <a:p>
            <a:pPr>
              <a:spcBef>
                <a:spcPts val="1000"/>
              </a:spcBef>
              <a:spcAft>
                <a:spcPts val="600"/>
              </a:spcAft>
              <a:defRPr sz="2000">
                <a:solidFill>
                  <a:srgbClr val="FFFFFF"/>
                </a:solidFill>
              </a:defRPr>
            </a:pPr>
            <a:r>
              <a:t>  'U-Net: Convolutional Networks for Biomedical Image Segmentation'</a:t>
            </a:r>
          </a:p>
          <a:p>
            <a:pPr>
              <a:spcBef>
                <a:spcPts val="1000"/>
              </a:spcBef>
              <a:spcAft>
                <a:spcPts val="600"/>
              </a:spcAft>
              <a:defRPr sz="2000">
                <a:solidFill>
                  <a:srgbClr val="FFFFFF"/>
                </a:solidFill>
              </a:defRPr>
            </a:pPr>
            <a:r>
              <a:t>  MICCAI 2015</a:t>
            </a:r>
          </a:p>
          <a:p>
            <a:pPr>
              <a:spcBef>
                <a:spcPts val="1000"/>
              </a:spcBef>
              <a:spcAft>
                <a:spcPts val="600"/>
              </a:spcAft>
              <a:defRPr sz="2000">
                <a:solidFill>
                  <a:srgbClr val="FFFFFF"/>
                </a:solidFill>
              </a:defRPr>
            </a:pPr>
          </a:p>
          <a:p>
            <a:pPr>
              <a:spcBef>
                <a:spcPts val="1000"/>
              </a:spcBef>
              <a:spcAft>
                <a:spcPts val="600"/>
              </a:spcAft>
              <a:defRPr sz="2000">
                <a:solidFill>
                  <a:srgbClr val="FFFFFF"/>
                </a:solidFill>
              </a:defRPr>
            </a:pPr>
            <a:r>
              <a:t>• Key Innovation: Symmetric encoder-decoder with skip connections</a:t>
            </a:r>
          </a:p>
          <a:p>
            <a:pPr lvl="1">
              <a:spcBef>
                <a:spcPts val="1000"/>
              </a:spcBef>
              <a:spcAft>
                <a:spcPts val="600"/>
              </a:spcAft>
              <a:defRPr sz="1800">
                <a:solidFill>
                  <a:srgbClr val="FFFFFF"/>
                </a:solidFill>
              </a:defRPr>
            </a:pPr>
            <a:r>
              <a:t>  - Contracting path (encoder): captures context</a:t>
            </a:r>
          </a:p>
          <a:p>
            <a:pPr lvl="1">
              <a:spcBef>
                <a:spcPts val="1000"/>
              </a:spcBef>
              <a:spcAft>
                <a:spcPts val="600"/>
              </a:spcAft>
              <a:defRPr sz="1800">
                <a:solidFill>
                  <a:srgbClr val="FFFFFF"/>
                </a:solidFill>
              </a:defRPr>
            </a:pPr>
            <a:r>
              <a:t>  - Expanding path (decoder): enables precise localization</a:t>
            </a:r>
          </a:p>
          <a:p>
            <a:pPr lvl="1">
              <a:spcBef>
                <a:spcPts val="1000"/>
              </a:spcBef>
              <a:spcAft>
                <a:spcPts val="600"/>
              </a:spcAft>
              <a:defRPr sz="1800">
                <a:solidFill>
                  <a:srgbClr val="FFFFFF"/>
                </a:solidFill>
              </a:defRPr>
            </a:pPr>
            <a:r>
              <a:t>  - Skip connections: preserve spatial information</a:t>
            </a:r>
          </a:p>
          <a:p>
            <a:pPr>
              <a:spcBef>
                <a:spcPts val="1000"/>
              </a:spcBef>
              <a:spcAft>
                <a:spcPts val="600"/>
              </a:spcAft>
              <a:defRPr sz="2000">
                <a:solidFill>
                  <a:srgbClr val="FFFFFF"/>
                </a:solidFill>
              </a:defRPr>
            </a:pPr>
          </a:p>
          <a:p>
            <a:pPr>
              <a:spcBef>
                <a:spcPts val="1000"/>
              </a:spcBef>
              <a:spcAft>
                <a:spcPts val="600"/>
              </a:spcAft>
              <a:defRPr sz="2000">
                <a:solidFill>
                  <a:srgbClr val="FFFFFF"/>
                </a:solidFill>
              </a:defRPr>
            </a:pPr>
            <a:r>
              <a:t>• Design for Medical Imaging:</a:t>
            </a:r>
          </a:p>
          <a:p>
            <a:pPr lvl="1">
              <a:spcBef>
                <a:spcPts val="1000"/>
              </a:spcBef>
              <a:spcAft>
                <a:spcPts val="600"/>
              </a:spcAft>
              <a:defRPr sz="1800">
                <a:solidFill>
                  <a:srgbClr val="FFFFFF"/>
                </a:solidFill>
              </a:defRPr>
            </a:pPr>
            <a:r>
              <a:t>  - Works with very few training images (30-50)</a:t>
            </a:r>
          </a:p>
          <a:p>
            <a:pPr lvl="1">
              <a:spcBef>
                <a:spcPts val="1000"/>
              </a:spcBef>
              <a:spcAft>
                <a:spcPts val="600"/>
              </a:spcAft>
              <a:defRPr sz="1800">
                <a:solidFill>
                  <a:srgbClr val="FFFFFF"/>
                </a:solidFill>
              </a:defRPr>
            </a:pPr>
            <a:r>
              <a:t>  - Data augmentation strategy for small datasets</a:t>
            </a:r>
          </a:p>
          <a:p>
            <a:pPr>
              <a:spcBef>
                <a:spcPts val="1000"/>
              </a:spcBef>
              <a:spcAft>
                <a:spcPts val="600"/>
              </a:spcAft>
              <a:defRPr sz="2000">
                <a:solidFill>
                  <a:srgbClr val="FFFFFF"/>
                </a:solidFill>
              </a:defRPr>
            </a:pPr>
          </a:p>
          <a:p>
            <a:pPr>
              <a:spcBef>
                <a:spcPts val="1000"/>
              </a:spcBef>
              <a:spcAft>
                <a:spcPts val="600"/>
              </a:spcAft>
              <a:defRPr sz="2000">
                <a:solidFill>
                  <a:srgbClr val="FFFFFF"/>
                </a:solidFill>
              </a:defRPr>
            </a:pPr>
            <a:r>
              <a:t>• Results: ISBI Cell Segmentation - Won by large margin</a:t>
            </a:r>
          </a:p>
          <a:p>
            <a:pPr>
              <a:spcBef>
                <a:spcPts val="1000"/>
              </a:spcBef>
              <a:spcAft>
                <a:spcPts val="600"/>
              </a:spcAft>
              <a:defRPr sz="2000">
                <a:solidFill>
                  <a:srgbClr val="FFFFFF"/>
                </a:solidFill>
              </a:defRPr>
            </a:pPr>
            <a:r>
              <a:t>  (IOU = 92%, far exceeding previous methods)</a:t>
            </a:r>
          </a:p>
        </p:txBody>
      </p:sp>
      <p:sp>
        <p:nvSpPr>
          <p:cNvPr id="5" name="TextBox 4"/>
          <p:cNvSpPr txBox="1"/>
          <p:nvPr/>
        </p:nvSpPr>
        <p:spPr>
          <a:xfrm>
            <a:off x="8412480" y="6400800"/>
            <a:ext cx="457200" cy="274320"/>
          </a:xfrm>
          <a:prstGeom prst="rect">
            <a:avLst/>
          </a:prstGeom>
          <a:noFill/>
        </p:spPr>
        <p:txBody>
          <a:bodyPr wrap="none">
            <a:spAutoFit/>
          </a:bodyPr>
          <a:lstStyle/>
          <a:p>
            <a:pPr algn="r">
              <a:defRPr sz="1400">
                <a:solidFill>
                  <a:srgbClr val="DCDCDC"/>
                </a:solidFill>
              </a:defRPr>
            </a:pPr>
            <a:r>
              <a:t>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93764"/>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none">
            <a:spAutoFit/>
          </a:bodyPr>
          <a:lstStyle/>
          <a:p>
            <a:pPr>
              <a:defRPr sz="4000" b="1">
                <a:solidFill>
                  <a:srgbClr val="FFFFFF"/>
                </a:solidFill>
              </a:defRPr>
            </a:pPr>
            <a:r>
              <a:t>V-Net - 3D Extension (2016)</a:t>
            </a:r>
          </a:p>
        </p:txBody>
      </p:sp>
      <p:sp>
        <p:nvSpPr>
          <p:cNvPr id="3" name="Rectangle 2"/>
          <p:cNvSpPr/>
          <p:nvPr/>
        </p:nvSpPr>
        <p:spPr>
          <a:xfrm>
            <a:off x="457200" y="1005840"/>
            <a:ext cx="8229600" cy="0"/>
          </a:xfrm>
          <a:prstGeom prst="rect">
            <a:avLst/>
          </a:prstGeom>
          <a:ln w="38100">
            <a:solidFill>
              <a:srgbClr val="FF8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7863840" cy="4846320"/>
          </a:xfrm>
          <a:prstGeom prst="rect">
            <a:avLst/>
          </a:prstGeom>
          <a:noFill/>
        </p:spPr>
        <p:txBody>
          <a:bodyPr wrap="square">
            <a:spAutoFit/>
          </a:bodyPr>
          <a:lstStyle/>
          <a:p>
            <a:pPr>
              <a:spcBef>
                <a:spcPts val="1000"/>
              </a:spcBef>
              <a:spcAft>
                <a:spcPts val="600"/>
              </a:spcAft>
              <a:defRPr sz="2000">
                <a:solidFill>
                  <a:srgbClr val="FFFFFF"/>
                </a:solidFill>
              </a:defRPr>
            </a:pPr>
            <a:r>
              <a:t>• Milletari, F., Navab, N., &amp; Ahmadi, S. A. (2016)</a:t>
            </a:r>
          </a:p>
          <a:p>
            <a:pPr>
              <a:spcBef>
                <a:spcPts val="1000"/>
              </a:spcBef>
              <a:spcAft>
                <a:spcPts val="600"/>
              </a:spcAft>
              <a:defRPr sz="2000">
                <a:solidFill>
                  <a:srgbClr val="FFFFFF"/>
                </a:solidFill>
              </a:defRPr>
            </a:pPr>
            <a:r>
              <a:t>  'V-Net: Fully Convolutional Neural Networks for Volumetric Medical Image Segmentation'</a:t>
            </a:r>
          </a:p>
          <a:p>
            <a:pPr>
              <a:spcBef>
                <a:spcPts val="1000"/>
              </a:spcBef>
              <a:spcAft>
                <a:spcPts val="600"/>
              </a:spcAft>
              <a:defRPr sz="2000">
                <a:solidFill>
                  <a:srgbClr val="FFFFFF"/>
                </a:solidFill>
              </a:defRPr>
            </a:pPr>
            <a:r>
              <a:t>  3DV 2016</a:t>
            </a:r>
          </a:p>
          <a:p>
            <a:pPr>
              <a:spcBef>
                <a:spcPts val="1000"/>
              </a:spcBef>
              <a:spcAft>
                <a:spcPts val="600"/>
              </a:spcAft>
              <a:defRPr sz="2000">
                <a:solidFill>
                  <a:srgbClr val="FFFFFF"/>
                </a:solidFill>
              </a:defRPr>
            </a:pPr>
          </a:p>
          <a:p>
            <a:pPr>
              <a:spcBef>
                <a:spcPts val="1000"/>
              </a:spcBef>
              <a:spcAft>
                <a:spcPts val="600"/>
              </a:spcAft>
              <a:defRPr sz="2000">
                <a:solidFill>
                  <a:srgbClr val="FFFFFF"/>
                </a:solidFill>
              </a:defRPr>
            </a:pPr>
            <a:r>
              <a:t>• Key Innovations:</a:t>
            </a:r>
          </a:p>
          <a:p>
            <a:pPr lvl="1">
              <a:spcBef>
                <a:spcPts val="1000"/>
              </a:spcBef>
              <a:spcAft>
                <a:spcPts val="600"/>
              </a:spcAft>
              <a:defRPr sz="1800">
                <a:solidFill>
                  <a:srgbClr val="FFFFFF"/>
                </a:solidFill>
              </a:defRPr>
            </a:pPr>
            <a:r>
              <a:t>  - Full 3D convolutions for volumetric segmentation</a:t>
            </a:r>
          </a:p>
          <a:p>
            <a:pPr lvl="1">
              <a:spcBef>
                <a:spcPts val="1000"/>
              </a:spcBef>
              <a:spcAft>
                <a:spcPts val="600"/>
              </a:spcAft>
              <a:defRPr sz="1800">
                <a:solidFill>
                  <a:srgbClr val="FFFFFF"/>
                </a:solidFill>
              </a:defRPr>
            </a:pPr>
            <a:r>
              <a:t>  - Introduced Dice loss function for training</a:t>
            </a:r>
          </a:p>
          <a:p>
            <a:pPr lvl="1">
              <a:spcBef>
                <a:spcPts val="1000"/>
              </a:spcBef>
              <a:spcAft>
                <a:spcPts val="600"/>
              </a:spcAft>
              <a:defRPr sz="1800">
                <a:solidFill>
                  <a:srgbClr val="FFFFFF"/>
                </a:solidFill>
              </a:defRPr>
            </a:pPr>
            <a:r>
              <a:t>  - Residual connections within conv blocks</a:t>
            </a:r>
          </a:p>
          <a:p>
            <a:pPr>
              <a:spcBef>
                <a:spcPts val="1000"/>
              </a:spcBef>
              <a:spcAft>
                <a:spcPts val="600"/>
              </a:spcAft>
              <a:defRPr sz="2000">
                <a:solidFill>
                  <a:srgbClr val="FFFFFF"/>
                </a:solidFill>
              </a:defRPr>
            </a:pPr>
          </a:p>
          <a:p>
            <a:pPr>
              <a:spcBef>
                <a:spcPts val="1000"/>
              </a:spcBef>
              <a:spcAft>
                <a:spcPts val="600"/>
              </a:spcAft>
              <a:defRPr sz="2000">
                <a:solidFill>
                  <a:srgbClr val="FFFFFF"/>
                </a:solidFill>
              </a:defRPr>
            </a:pPr>
            <a:r>
              <a:t>• Architecture: 3D U-Net style with residual blocks</a:t>
            </a:r>
          </a:p>
          <a:p>
            <a:pPr>
              <a:spcBef>
                <a:spcPts val="1000"/>
              </a:spcBef>
              <a:spcAft>
                <a:spcPts val="600"/>
              </a:spcAft>
              <a:defRPr sz="2000">
                <a:solidFill>
                  <a:srgbClr val="FFFFFF"/>
                </a:solidFill>
              </a:defRPr>
            </a:pPr>
          </a:p>
          <a:p>
            <a:pPr>
              <a:spcBef>
                <a:spcPts val="1000"/>
              </a:spcBef>
              <a:spcAft>
                <a:spcPts val="600"/>
              </a:spcAft>
              <a:defRPr sz="2000">
                <a:solidFill>
                  <a:srgbClr val="FFFFFF"/>
                </a:solidFill>
              </a:defRPr>
            </a:pPr>
            <a:r>
              <a:t>• Dice Loss: Directly optimizes segmentation overlap metric</a:t>
            </a:r>
          </a:p>
          <a:p>
            <a:pPr>
              <a:spcBef>
                <a:spcPts val="1000"/>
              </a:spcBef>
              <a:spcAft>
                <a:spcPts val="600"/>
              </a:spcAft>
              <a:defRPr sz="2000">
                <a:solidFill>
                  <a:srgbClr val="FFFFFF"/>
                </a:solidFill>
              </a:defRPr>
            </a:pPr>
            <a:r>
              <a:t>  Dice = 2|X ∩ Y| / (|X| + |Y|)</a:t>
            </a:r>
          </a:p>
          <a:p>
            <a:pPr>
              <a:spcBef>
                <a:spcPts val="1000"/>
              </a:spcBef>
              <a:spcAft>
                <a:spcPts val="600"/>
              </a:spcAft>
              <a:defRPr sz="2000">
                <a:solidFill>
                  <a:srgbClr val="FFFFFF"/>
                </a:solidFill>
              </a:defRPr>
            </a:pPr>
          </a:p>
          <a:p>
            <a:pPr>
              <a:spcBef>
                <a:spcPts val="1000"/>
              </a:spcBef>
              <a:spcAft>
                <a:spcPts val="600"/>
              </a:spcAft>
              <a:defRPr sz="2000">
                <a:solidFill>
                  <a:srgbClr val="FFFFFF"/>
                </a:solidFill>
              </a:defRPr>
            </a:pPr>
            <a:r>
              <a:t>• Results: Prostate MRI segmentation - Dice 0.869</a:t>
            </a:r>
          </a:p>
        </p:txBody>
      </p:sp>
      <p:sp>
        <p:nvSpPr>
          <p:cNvPr id="5" name="TextBox 4"/>
          <p:cNvSpPr txBox="1"/>
          <p:nvPr/>
        </p:nvSpPr>
        <p:spPr>
          <a:xfrm>
            <a:off x="8412480" y="6400800"/>
            <a:ext cx="457200" cy="274320"/>
          </a:xfrm>
          <a:prstGeom prst="rect">
            <a:avLst/>
          </a:prstGeom>
          <a:noFill/>
        </p:spPr>
        <p:txBody>
          <a:bodyPr wrap="none">
            <a:spAutoFit/>
          </a:bodyPr>
          <a:lstStyle/>
          <a:p>
            <a:pPr algn="r">
              <a:defRPr sz="1400">
                <a:solidFill>
                  <a:srgbClr val="DCDCDC"/>
                </a:solidFill>
              </a:defRPr>
            </a:pPr>
            <a:r>
              <a:t>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93764"/>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none">
            <a:spAutoFit/>
          </a:bodyPr>
          <a:lstStyle/>
          <a:p>
            <a:pPr>
              <a:defRPr sz="4000" b="1">
                <a:solidFill>
                  <a:srgbClr val="FFFFFF"/>
                </a:solidFill>
              </a:defRPr>
            </a:pPr>
            <a:r>
              <a:t>U-Net++ - Nested Architecture (2018)</a:t>
            </a:r>
          </a:p>
        </p:txBody>
      </p:sp>
      <p:sp>
        <p:nvSpPr>
          <p:cNvPr id="3" name="Rectangle 2"/>
          <p:cNvSpPr/>
          <p:nvPr/>
        </p:nvSpPr>
        <p:spPr>
          <a:xfrm>
            <a:off x="457200" y="1005840"/>
            <a:ext cx="8229600" cy="0"/>
          </a:xfrm>
          <a:prstGeom prst="rect">
            <a:avLst/>
          </a:prstGeom>
          <a:ln w="38100">
            <a:solidFill>
              <a:srgbClr val="FF8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7863840" cy="4846320"/>
          </a:xfrm>
          <a:prstGeom prst="rect">
            <a:avLst/>
          </a:prstGeom>
          <a:noFill/>
        </p:spPr>
        <p:txBody>
          <a:bodyPr wrap="square">
            <a:spAutoFit/>
          </a:bodyPr>
          <a:lstStyle/>
          <a:p>
            <a:pPr>
              <a:spcBef>
                <a:spcPts val="1000"/>
              </a:spcBef>
              <a:spcAft>
                <a:spcPts val="600"/>
              </a:spcAft>
              <a:defRPr sz="2000">
                <a:solidFill>
                  <a:srgbClr val="FFFFFF"/>
                </a:solidFill>
              </a:defRPr>
            </a:pPr>
            <a:r>
              <a:t>• Zhou, Z., Rahman Siddiquee, M. M., Tajbakhsh, N., &amp; Liang, J. (2018)</a:t>
            </a:r>
          </a:p>
          <a:p>
            <a:pPr>
              <a:spcBef>
                <a:spcPts val="1000"/>
              </a:spcBef>
              <a:spcAft>
                <a:spcPts val="600"/>
              </a:spcAft>
              <a:defRPr sz="2000">
                <a:solidFill>
                  <a:srgbClr val="FFFFFF"/>
                </a:solidFill>
              </a:defRPr>
            </a:pPr>
            <a:r>
              <a:t>  'UNet++: A Nested U-Net Architecture for Medical Image Segmentation'</a:t>
            </a:r>
          </a:p>
          <a:p>
            <a:pPr>
              <a:spcBef>
                <a:spcPts val="1000"/>
              </a:spcBef>
              <a:spcAft>
                <a:spcPts val="600"/>
              </a:spcAft>
              <a:defRPr sz="2000">
                <a:solidFill>
                  <a:srgbClr val="FFFFFF"/>
                </a:solidFill>
              </a:defRPr>
            </a:pPr>
            <a:r>
              <a:t>  MICCAI Workshop 2018</a:t>
            </a:r>
          </a:p>
          <a:p>
            <a:pPr>
              <a:spcBef>
                <a:spcPts val="1000"/>
              </a:spcBef>
              <a:spcAft>
                <a:spcPts val="600"/>
              </a:spcAft>
              <a:defRPr sz="2000">
                <a:solidFill>
                  <a:srgbClr val="FFFFFF"/>
                </a:solidFill>
              </a:defRPr>
            </a:pPr>
          </a:p>
          <a:p>
            <a:pPr>
              <a:spcBef>
                <a:spcPts val="1000"/>
              </a:spcBef>
              <a:spcAft>
                <a:spcPts val="600"/>
              </a:spcAft>
              <a:defRPr sz="2000">
                <a:solidFill>
                  <a:srgbClr val="FFFFFF"/>
                </a:solidFill>
              </a:defRPr>
            </a:pPr>
            <a:r>
              <a:t>• Key Innovation: Nested skip pathways with dense connections</a:t>
            </a:r>
          </a:p>
          <a:p>
            <a:pPr lvl="1">
              <a:spcBef>
                <a:spcPts val="1000"/>
              </a:spcBef>
              <a:spcAft>
                <a:spcPts val="600"/>
              </a:spcAft>
              <a:defRPr sz="1800">
                <a:solidFill>
                  <a:srgbClr val="FFFFFF"/>
                </a:solidFill>
              </a:defRPr>
            </a:pPr>
            <a:r>
              <a:t>  - Multiple U-Nets of different depths nested together</a:t>
            </a:r>
          </a:p>
          <a:p>
            <a:pPr lvl="1">
              <a:spcBef>
                <a:spcPts val="1000"/>
              </a:spcBef>
              <a:spcAft>
                <a:spcPts val="600"/>
              </a:spcAft>
              <a:defRPr sz="1800">
                <a:solidFill>
                  <a:srgbClr val="FFFFFF"/>
                </a:solidFill>
              </a:defRPr>
            </a:pPr>
            <a:r>
              <a:t>  - Dense skip connections reduce semantic gap</a:t>
            </a:r>
          </a:p>
          <a:p>
            <a:pPr lvl="1">
              <a:spcBef>
                <a:spcPts val="1000"/>
              </a:spcBef>
              <a:spcAft>
                <a:spcPts val="600"/>
              </a:spcAft>
              <a:defRPr sz="1800">
                <a:solidFill>
                  <a:srgbClr val="FFFFFF"/>
                </a:solidFill>
              </a:defRPr>
            </a:pPr>
            <a:r>
              <a:t>  - Deep supervision at multiple scales</a:t>
            </a:r>
          </a:p>
          <a:p>
            <a:pPr>
              <a:spcBef>
                <a:spcPts val="1000"/>
              </a:spcBef>
              <a:spcAft>
                <a:spcPts val="600"/>
              </a:spcAft>
              <a:defRPr sz="2000">
                <a:solidFill>
                  <a:srgbClr val="FFFFFF"/>
                </a:solidFill>
              </a:defRPr>
            </a:pPr>
          </a:p>
          <a:p>
            <a:pPr>
              <a:spcBef>
                <a:spcPts val="1000"/>
              </a:spcBef>
              <a:spcAft>
                <a:spcPts val="600"/>
              </a:spcAft>
              <a:defRPr sz="2000">
                <a:solidFill>
                  <a:srgbClr val="FFFFFF"/>
                </a:solidFill>
              </a:defRPr>
            </a:pPr>
            <a:r>
              <a:t>• Architecture: X1,0, X2,0, ..., X5,0 in encoder</a:t>
            </a:r>
          </a:p>
          <a:p>
            <a:pPr>
              <a:spcBef>
                <a:spcPts val="1000"/>
              </a:spcBef>
              <a:spcAft>
                <a:spcPts val="600"/>
              </a:spcAft>
              <a:defRPr sz="2000">
                <a:solidFill>
                  <a:srgbClr val="FFFFFF"/>
                </a:solidFill>
              </a:defRPr>
            </a:pPr>
            <a:r>
              <a:t>              X0,1, X0,2, ..., X0,5 nested nodes with dense connections</a:t>
            </a:r>
          </a:p>
          <a:p>
            <a:pPr>
              <a:spcBef>
                <a:spcPts val="1000"/>
              </a:spcBef>
              <a:spcAft>
                <a:spcPts val="600"/>
              </a:spcAft>
              <a:defRPr sz="2000">
                <a:solidFill>
                  <a:srgbClr val="FFFFFF"/>
                </a:solidFill>
              </a:defRPr>
            </a:pPr>
          </a:p>
          <a:p>
            <a:pPr>
              <a:spcBef>
                <a:spcPts val="1000"/>
              </a:spcBef>
              <a:spcAft>
                <a:spcPts val="600"/>
              </a:spcAft>
              <a:defRPr sz="2000">
                <a:solidFill>
                  <a:srgbClr val="FFFFFF"/>
                </a:solidFill>
              </a:defRPr>
            </a:pPr>
            <a:r>
              <a:t>• Results:</a:t>
            </a:r>
          </a:p>
          <a:p>
            <a:pPr lvl="1">
              <a:spcBef>
                <a:spcPts val="1000"/>
              </a:spcBef>
              <a:spcAft>
                <a:spcPts val="600"/>
              </a:spcAft>
              <a:defRPr sz="1800">
                <a:solidFill>
                  <a:srgbClr val="FFFFFF"/>
                </a:solidFill>
              </a:defRPr>
            </a:pPr>
            <a:r>
              <a:t>  - Liver: Dice 0.826 (U-Net: 0.815)</a:t>
            </a:r>
          </a:p>
          <a:p>
            <a:pPr lvl="1">
              <a:spcBef>
                <a:spcPts val="1000"/>
              </a:spcBef>
              <a:spcAft>
                <a:spcPts val="600"/>
              </a:spcAft>
              <a:defRPr sz="1800">
                <a:solidFill>
                  <a:srgbClr val="FFFFFF"/>
                </a:solidFill>
              </a:defRPr>
            </a:pPr>
            <a:r>
              <a:t>  - Lung nodules: Dice 0.838 (U-Net: 0.820)</a:t>
            </a:r>
          </a:p>
        </p:txBody>
      </p:sp>
      <p:sp>
        <p:nvSpPr>
          <p:cNvPr id="5" name="TextBox 4"/>
          <p:cNvSpPr txBox="1"/>
          <p:nvPr/>
        </p:nvSpPr>
        <p:spPr>
          <a:xfrm>
            <a:off x="8412480" y="6400800"/>
            <a:ext cx="457200" cy="274320"/>
          </a:xfrm>
          <a:prstGeom prst="rect">
            <a:avLst/>
          </a:prstGeom>
          <a:noFill/>
        </p:spPr>
        <p:txBody>
          <a:bodyPr wrap="none">
            <a:spAutoFit/>
          </a:bodyPr>
          <a:lstStyle/>
          <a:p>
            <a:pPr algn="r">
              <a:defRPr sz="1400">
                <a:solidFill>
                  <a:srgbClr val="DCDCDC"/>
                </a:solidFill>
              </a:defRPr>
            </a:pPr>
            <a:r>
              <a:t>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93764"/>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none">
            <a:spAutoFit/>
          </a:bodyPr>
          <a:lstStyle/>
          <a:p>
            <a:pPr>
              <a:defRPr sz="4000" b="1">
                <a:solidFill>
                  <a:srgbClr val="FFFFFF"/>
                </a:solidFill>
              </a:defRPr>
            </a:pPr>
            <a:r>
              <a:t>Attention U-Net (2018)</a:t>
            </a:r>
          </a:p>
        </p:txBody>
      </p:sp>
      <p:sp>
        <p:nvSpPr>
          <p:cNvPr id="3" name="Rectangle 2"/>
          <p:cNvSpPr/>
          <p:nvPr/>
        </p:nvSpPr>
        <p:spPr>
          <a:xfrm>
            <a:off x="457200" y="1005840"/>
            <a:ext cx="8229600" cy="0"/>
          </a:xfrm>
          <a:prstGeom prst="rect">
            <a:avLst/>
          </a:prstGeom>
          <a:ln w="38100">
            <a:solidFill>
              <a:srgbClr val="FF8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7863840" cy="4846320"/>
          </a:xfrm>
          <a:prstGeom prst="rect">
            <a:avLst/>
          </a:prstGeom>
          <a:noFill/>
        </p:spPr>
        <p:txBody>
          <a:bodyPr wrap="square">
            <a:spAutoFit/>
          </a:bodyPr>
          <a:lstStyle/>
          <a:p>
            <a:pPr>
              <a:spcBef>
                <a:spcPts val="1000"/>
              </a:spcBef>
              <a:spcAft>
                <a:spcPts val="600"/>
              </a:spcAft>
              <a:defRPr sz="2000">
                <a:solidFill>
                  <a:srgbClr val="FFFFFF"/>
                </a:solidFill>
              </a:defRPr>
            </a:pPr>
            <a:r>
              <a:t>• Oktay, O., et al. (2018)</a:t>
            </a:r>
          </a:p>
          <a:p>
            <a:pPr>
              <a:spcBef>
                <a:spcPts val="1000"/>
              </a:spcBef>
              <a:spcAft>
                <a:spcPts val="600"/>
              </a:spcAft>
              <a:defRPr sz="2000">
                <a:solidFill>
                  <a:srgbClr val="FFFFFF"/>
                </a:solidFill>
              </a:defRPr>
            </a:pPr>
            <a:r>
              <a:t>  'Attention U-Net: Learning Where to Look for the Pancreas'</a:t>
            </a:r>
          </a:p>
          <a:p>
            <a:pPr>
              <a:spcBef>
                <a:spcPts val="1000"/>
              </a:spcBef>
              <a:spcAft>
                <a:spcPts val="600"/>
              </a:spcAft>
              <a:defRPr sz="2000">
                <a:solidFill>
                  <a:srgbClr val="FFFFFF"/>
                </a:solidFill>
              </a:defRPr>
            </a:pPr>
            <a:r>
              <a:t>  MIDL 2018</a:t>
            </a:r>
          </a:p>
          <a:p>
            <a:pPr>
              <a:spcBef>
                <a:spcPts val="1000"/>
              </a:spcBef>
              <a:spcAft>
                <a:spcPts val="600"/>
              </a:spcAft>
              <a:defRPr sz="2000">
                <a:solidFill>
                  <a:srgbClr val="FFFFFF"/>
                </a:solidFill>
              </a:defRPr>
            </a:pPr>
          </a:p>
          <a:p>
            <a:pPr>
              <a:spcBef>
                <a:spcPts val="1000"/>
              </a:spcBef>
              <a:spcAft>
                <a:spcPts val="600"/>
              </a:spcAft>
              <a:defRPr sz="2000">
                <a:solidFill>
                  <a:srgbClr val="FFFFFF"/>
                </a:solidFill>
              </a:defRPr>
            </a:pPr>
            <a:r>
              <a:t>• Key Innovation: Attention gates in skip connections</a:t>
            </a:r>
          </a:p>
          <a:p>
            <a:pPr lvl="1">
              <a:spcBef>
                <a:spcPts val="1000"/>
              </a:spcBef>
              <a:spcAft>
                <a:spcPts val="600"/>
              </a:spcAft>
              <a:defRPr sz="1800">
                <a:solidFill>
                  <a:srgbClr val="FFFFFF"/>
                </a:solidFill>
              </a:defRPr>
            </a:pPr>
            <a:r>
              <a:t>  - Learn to focus on salient features</a:t>
            </a:r>
          </a:p>
          <a:p>
            <a:pPr lvl="1">
              <a:spcBef>
                <a:spcPts val="1000"/>
              </a:spcBef>
              <a:spcAft>
                <a:spcPts val="600"/>
              </a:spcAft>
              <a:defRPr sz="1800">
                <a:solidFill>
                  <a:srgbClr val="FFFFFF"/>
                </a:solidFill>
              </a:defRPr>
            </a:pPr>
            <a:r>
              <a:t>  - Suppress irrelevant background regions</a:t>
            </a:r>
          </a:p>
          <a:p>
            <a:pPr lvl="1">
              <a:spcBef>
                <a:spcPts val="1000"/>
              </a:spcBef>
              <a:spcAft>
                <a:spcPts val="600"/>
              </a:spcAft>
              <a:defRPr sz="1800">
                <a:solidFill>
                  <a:srgbClr val="FFFFFF"/>
                </a:solidFill>
              </a:defRPr>
            </a:pPr>
            <a:r>
              <a:t>  - No additional supervision required</a:t>
            </a:r>
          </a:p>
          <a:p>
            <a:pPr>
              <a:spcBef>
                <a:spcPts val="1000"/>
              </a:spcBef>
              <a:spcAft>
                <a:spcPts val="600"/>
              </a:spcAft>
              <a:defRPr sz="2000">
                <a:solidFill>
                  <a:srgbClr val="FFFFFF"/>
                </a:solidFill>
              </a:defRPr>
            </a:pPr>
          </a:p>
          <a:p>
            <a:pPr>
              <a:spcBef>
                <a:spcPts val="1000"/>
              </a:spcBef>
              <a:spcAft>
                <a:spcPts val="600"/>
              </a:spcAft>
              <a:defRPr sz="2000">
                <a:solidFill>
                  <a:srgbClr val="FFFFFF"/>
                </a:solidFill>
              </a:defRPr>
            </a:pPr>
            <a:r>
              <a:t>• Attention Mechanism:</a:t>
            </a:r>
          </a:p>
          <a:p>
            <a:pPr>
              <a:spcBef>
                <a:spcPts val="1000"/>
              </a:spcBef>
              <a:spcAft>
                <a:spcPts val="600"/>
              </a:spcAft>
              <a:defRPr sz="2000">
                <a:solidFill>
                  <a:srgbClr val="FFFFFF"/>
                </a:solidFill>
              </a:defRPr>
            </a:pPr>
            <a:r>
              <a:t>  α = σ(ψ(ReLU(W_g * g + W_x * x)))</a:t>
            </a:r>
          </a:p>
          <a:p>
            <a:pPr>
              <a:spcBef>
                <a:spcPts val="1000"/>
              </a:spcBef>
              <a:spcAft>
                <a:spcPts val="600"/>
              </a:spcAft>
              <a:defRPr sz="2000">
                <a:solidFill>
                  <a:srgbClr val="FFFFFF"/>
                </a:solidFill>
              </a:defRPr>
            </a:pPr>
            <a:r>
              <a:t>  where g = gating signal (decoder), x = skip connection (encoder)</a:t>
            </a:r>
          </a:p>
          <a:p>
            <a:pPr>
              <a:spcBef>
                <a:spcPts val="1000"/>
              </a:spcBef>
              <a:spcAft>
                <a:spcPts val="600"/>
              </a:spcAft>
              <a:defRPr sz="2000">
                <a:solidFill>
                  <a:srgbClr val="FFFFFF"/>
                </a:solidFill>
              </a:defRPr>
            </a:pPr>
          </a:p>
          <a:p>
            <a:pPr>
              <a:spcBef>
                <a:spcPts val="1000"/>
              </a:spcBef>
              <a:spcAft>
                <a:spcPts val="600"/>
              </a:spcAft>
              <a:defRPr sz="2000">
                <a:solidFill>
                  <a:srgbClr val="FFFFFF"/>
                </a:solidFill>
              </a:defRPr>
            </a:pPr>
            <a:r>
              <a:t>• Results:</a:t>
            </a:r>
          </a:p>
          <a:p>
            <a:pPr lvl="1">
              <a:spcBef>
                <a:spcPts val="1000"/>
              </a:spcBef>
              <a:spcAft>
                <a:spcPts val="600"/>
              </a:spcAft>
              <a:defRPr sz="1800">
                <a:solidFill>
                  <a:srgbClr val="FFFFFF"/>
                </a:solidFill>
              </a:defRPr>
            </a:pPr>
            <a:r>
              <a:t>  - Pancreas CT: Dice 0.859 (U-Net: 0.843)</a:t>
            </a:r>
          </a:p>
          <a:p>
            <a:pPr lvl="1">
              <a:spcBef>
                <a:spcPts val="1000"/>
              </a:spcBef>
              <a:spcAft>
                <a:spcPts val="600"/>
              </a:spcAft>
              <a:defRPr sz="1800">
                <a:solidFill>
                  <a:srgbClr val="FFFFFF"/>
                </a:solidFill>
              </a:defRPr>
            </a:pPr>
            <a:r>
              <a:t>  - Liver tumor: Dice 0.681 (U-Net: 0.658)</a:t>
            </a:r>
          </a:p>
        </p:txBody>
      </p:sp>
      <p:sp>
        <p:nvSpPr>
          <p:cNvPr id="5" name="TextBox 4"/>
          <p:cNvSpPr txBox="1"/>
          <p:nvPr/>
        </p:nvSpPr>
        <p:spPr>
          <a:xfrm>
            <a:off x="8412480" y="6400800"/>
            <a:ext cx="457200" cy="274320"/>
          </a:xfrm>
          <a:prstGeom prst="rect">
            <a:avLst/>
          </a:prstGeom>
          <a:noFill/>
        </p:spPr>
        <p:txBody>
          <a:bodyPr wrap="none">
            <a:spAutoFit/>
          </a:bodyPr>
          <a:lstStyle/>
          <a:p>
            <a:pPr algn="r">
              <a:defRPr sz="1400">
                <a:solidFill>
                  <a:srgbClr val="DCDCDC"/>
                </a:solidFill>
              </a:defRPr>
            </a:pPr>
            <a:r>
              <a:t>10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93764"/>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none">
            <a:spAutoFit/>
          </a:bodyPr>
          <a:lstStyle/>
          <a:p>
            <a:pPr>
              <a:defRPr sz="4000" b="1">
                <a:solidFill>
                  <a:srgbClr val="FFFFFF"/>
                </a:solidFill>
              </a:defRPr>
            </a:pPr>
            <a:r>
              <a:t>nnU-Net - Self-Configuring Framework (2021)</a:t>
            </a:r>
          </a:p>
        </p:txBody>
      </p:sp>
      <p:sp>
        <p:nvSpPr>
          <p:cNvPr id="3" name="Rectangle 2"/>
          <p:cNvSpPr/>
          <p:nvPr/>
        </p:nvSpPr>
        <p:spPr>
          <a:xfrm>
            <a:off x="457200" y="1005840"/>
            <a:ext cx="8229600" cy="0"/>
          </a:xfrm>
          <a:prstGeom prst="rect">
            <a:avLst/>
          </a:prstGeom>
          <a:ln w="38100">
            <a:solidFill>
              <a:srgbClr val="FF8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7863840" cy="4846320"/>
          </a:xfrm>
          <a:prstGeom prst="rect">
            <a:avLst/>
          </a:prstGeom>
          <a:noFill/>
        </p:spPr>
        <p:txBody>
          <a:bodyPr wrap="square">
            <a:spAutoFit/>
          </a:bodyPr>
          <a:lstStyle/>
          <a:p>
            <a:pPr>
              <a:spcBef>
                <a:spcPts val="1000"/>
              </a:spcBef>
              <a:spcAft>
                <a:spcPts val="600"/>
              </a:spcAft>
              <a:defRPr sz="2000">
                <a:solidFill>
                  <a:srgbClr val="FFFFFF"/>
                </a:solidFill>
              </a:defRPr>
            </a:pPr>
            <a:r>
              <a:t>• Isensee, F., Jaeger, P. F., Kohl, S. A., Petersen, J., &amp; Maier-Hein, K. H. (2021)</a:t>
            </a:r>
          </a:p>
          <a:p>
            <a:pPr>
              <a:spcBef>
                <a:spcPts val="1000"/>
              </a:spcBef>
              <a:spcAft>
                <a:spcPts val="600"/>
              </a:spcAft>
              <a:defRPr sz="2000">
                <a:solidFill>
                  <a:srgbClr val="FFFFFF"/>
                </a:solidFill>
              </a:defRPr>
            </a:pPr>
            <a:r>
              <a:t>  'nnU-Net: a self-configuring method for deep learning-based biomedical image segmentation'</a:t>
            </a:r>
          </a:p>
          <a:p>
            <a:pPr>
              <a:spcBef>
                <a:spcPts val="1000"/>
              </a:spcBef>
              <a:spcAft>
                <a:spcPts val="600"/>
              </a:spcAft>
              <a:defRPr sz="2000">
                <a:solidFill>
                  <a:srgbClr val="FFFFFF"/>
                </a:solidFill>
              </a:defRPr>
            </a:pPr>
            <a:r>
              <a:t>  Nature Methods, 18(2), 203-211</a:t>
            </a:r>
          </a:p>
          <a:p>
            <a:pPr>
              <a:spcBef>
                <a:spcPts val="1000"/>
              </a:spcBef>
              <a:spcAft>
                <a:spcPts val="600"/>
              </a:spcAft>
              <a:defRPr sz="2000">
                <a:solidFill>
                  <a:srgbClr val="FFFFFF"/>
                </a:solidFill>
              </a:defRPr>
            </a:pPr>
          </a:p>
          <a:p>
            <a:pPr>
              <a:spcBef>
                <a:spcPts val="1000"/>
              </a:spcBef>
              <a:spcAft>
                <a:spcPts val="600"/>
              </a:spcAft>
              <a:defRPr sz="2000">
                <a:solidFill>
                  <a:srgbClr val="FFFFFF"/>
                </a:solidFill>
              </a:defRPr>
            </a:pPr>
            <a:r>
              <a:t>• Key Innovation: Automatic configuration based on dataset properties</a:t>
            </a:r>
          </a:p>
          <a:p>
            <a:pPr lvl="1">
              <a:spcBef>
                <a:spcPts val="1000"/>
              </a:spcBef>
              <a:spcAft>
                <a:spcPts val="600"/>
              </a:spcAft>
              <a:defRPr sz="1800">
                <a:solidFill>
                  <a:srgbClr val="FFFFFF"/>
                </a:solidFill>
              </a:defRPr>
            </a:pPr>
            <a:r>
              <a:t>  - Automatically determines preprocessing, architecture, training</a:t>
            </a:r>
          </a:p>
          <a:p>
            <a:pPr lvl="1">
              <a:spcBef>
                <a:spcPts val="1000"/>
              </a:spcBef>
              <a:spcAft>
                <a:spcPts val="600"/>
              </a:spcAft>
              <a:defRPr sz="1800">
                <a:solidFill>
                  <a:srgbClr val="FFFFFF"/>
                </a:solidFill>
              </a:defRPr>
            </a:pPr>
            <a:r>
              <a:t>  - No manual tuning required</a:t>
            </a:r>
          </a:p>
          <a:p>
            <a:pPr lvl="1">
              <a:spcBef>
                <a:spcPts val="1000"/>
              </a:spcBef>
              <a:spcAft>
                <a:spcPts val="600"/>
              </a:spcAft>
              <a:defRPr sz="1800">
                <a:solidFill>
                  <a:srgbClr val="FFFFFF"/>
                </a:solidFill>
              </a:defRPr>
            </a:pPr>
            <a:r>
              <a:t>  - Robust across diverse medical imaging tasks</a:t>
            </a:r>
          </a:p>
          <a:p>
            <a:pPr>
              <a:spcBef>
                <a:spcPts val="1000"/>
              </a:spcBef>
              <a:spcAft>
                <a:spcPts val="600"/>
              </a:spcAft>
              <a:defRPr sz="2000">
                <a:solidFill>
                  <a:srgbClr val="FFFFFF"/>
                </a:solidFill>
              </a:defRPr>
            </a:pPr>
          </a:p>
          <a:p>
            <a:pPr>
              <a:spcBef>
                <a:spcPts val="1000"/>
              </a:spcBef>
              <a:spcAft>
                <a:spcPts val="600"/>
              </a:spcAft>
              <a:defRPr sz="2000">
                <a:solidFill>
                  <a:srgbClr val="FFFFFF"/>
                </a:solidFill>
              </a:defRPr>
            </a:pPr>
            <a:r>
              <a:t>• Three U-Net variants: 2D, 3D full-res, 3D cascade</a:t>
            </a:r>
          </a:p>
          <a:p>
            <a:pPr>
              <a:spcBef>
                <a:spcPts val="1000"/>
              </a:spcBef>
              <a:spcAft>
                <a:spcPts val="600"/>
              </a:spcAft>
              <a:defRPr sz="2000">
                <a:solidFill>
                  <a:srgbClr val="FFFFFF"/>
                </a:solidFill>
              </a:defRPr>
            </a:pPr>
          </a:p>
          <a:p>
            <a:pPr>
              <a:spcBef>
                <a:spcPts val="1000"/>
              </a:spcBef>
              <a:spcAft>
                <a:spcPts val="600"/>
              </a:spcAft>
              <a:defRPr sz="2000">
                <a:solidFill>
                  <a:srgbClr val="FFFFFF"/>
                </a:solidFill>
              </a:defRPr>
            </a:pPr>
            <a:r>
              <a:t>• Results: Won 33 out of 53 international challenges</a:t>
            </a:r>
          </a:p>
          <a:p>
            <a:pPr lvl="1">
              <a:spcBef>
                <a:spcPts val="1000"/>
              </a:spcBef>
              <a:spcAft>
                <a:spcPts val="600"/>
              </a:spcAft>
              <a:defRPr sz="1800">
                <a:solidFill>
                  <a:srgbClr val="FFFFFF"/>
                </a:solidFill>
              </a:defRPr>
            </a:pPr>
            <a:r>
              <a:t>  - Medical Segmentation Decathlon: 1st place</a:t>
            </a:r>
          </a:p>
          <a:p>
            <a:pPr lvl="1">
              <a:spcBef>
                <a:spcPts val="1000"/>
              </a:spcBef>
              <a:spcAft>
                <a:spcPts val="600"/>
              </a:spcAft>
              <a:defRPr sz="1800">
                <a:solidFill>
                  <a:srgbClr val="FFFFFF"/>
                </a:solidFill>
              </a:defRPr>
            </a:pPr>
            <a:r>
              <a:t>  - KiTS, BraTS, LiTS challenges: Top performance</a:t>
            </a:r>
          </a:p>
        </p:txBody>
      </p:sp>
      <p:sp>
        <p:nvSpPr>
          <p:cNvPr id="5" name="TextBox 4"/>
          <p:cNvSpPr txBox="1"/>
          <p:nvPr/>
        </p:nvSpPr>
        <p:spPr>
          <a:xfrm>
            <a:off x="8412480" y="6400800"/>
            <a:ext cx="457200" cy="274320"/>
          </a:xfrm>
          <a:prstGeom prst="rect">
            <a:avLst/>
          </a:prstGeom>
          <a:noFill/>
        </p:spPr>
        <p:txBody>
          <a:bodyPr wrap="none">
            <a:spAutoFit/>
          </a:bodyPr>
          <a:lstStyle/>
          <a:p>
            <a:pPr algn="r">
              <a:defRPr sz="1400">
                <a:solidFill>
                  <a:srgbClr val="DCDCDC"/>
                </a:solidFill>
              </a:defRPr>
            </a:pPr>
            <a:r>
              <a:t>11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93764"/>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none">
            <a:spAutoFit/>
          </a:bodyPr>
          <a:lstStyle/>
          <a:p>
            <a:pPr>
              <a:defRPr sz="4000" b="1">
                <a:solidFill>
                  <a:srgbClr val="FFFFFF"/>
                </a:solidFill>
              </a:defRPr>
            </a:pPr>
            <a:r>
              <a:t>Transformer-Based Approaches (2021-2023)</a:t>
            </a:r>
          </a:p>
        </p:txBody>
      </p:sp>
      <p:sp>
        <p:nvSpPr>
          <p:cNvPr id="3" name="Rectangle 2"/>
          <p:cNvSpPr/>
          <p:nvPr/>
        </p:nvSpPr>
        <p:spPr>
          <a:xfrm>
            <a:off x="457200" y="1005840"/>
            <a:ext cx="8229600" cy="0"/>
          </a:xfrm>
          <a:prstGeom prst="rect">
            <a:avLst/>
          </a:prstGeom>
          <a:ln w="38100">
            <a:solidFill>
              <a:srgbClr val="FF8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7863840" cy="4846320"/>
          </a:xfrm>
          <a:prstGeom prst="rect">
            <a:avLst/>
          </a:prstGeom>
          <a:noFill/>
        </p:spPr>
        <p:txBody>
          <a:bodyPr wrap="square">
            <a:spAutoFit/>
          </a:bodyPr>
          <a:lstStyle/>
          <a:p>
            <a:pPr>
              <a:spcBef>
                <a:spcPts val="1000"/>
              </a:spcBef>
              <a:spcAft>
                <a:spcPts val="600"/>
              </a:spcAft>
              <a:defRPr sz="2000">
                <a:solidFill>
                  <a:srgbClr val="FFFFFF"/>
                </a:solidFill>
              </a:defRPr>
            </a:pPr>
            <a:r>
              <a:t>• TransUNet (Chen et al., 2021)</a:t>
            </a:r>
          </a:p>
          <a:p>
            <a:pPr lvl="1">
              <a:spcBef>
                <a:spcPts val="1000"/>
              </a:spcBef>
              <a:spcAft>
                <a:spcPts val="600"/>
              </a:spcAft>
              <a:defRPr sz="1800">
                <a:solidFill>
                  <a:srgbClr val="FFFFFF"/>
                </a:solidFill>
              </a:defRPr>
            </a:pPr>
            <a:r>
              <a:t>  - Combines CNN encoder with Transformer decoder</a:t>
            </a:r>
          </a:p>
          <a:p>
            <a:pPr lvl="1">
              <a:spcBef>
                <a:spcPts val="1000"/>
              </a:spcBef>
              <a:spcAft>
                <a:spcPts val="600"/>
              </a:spcAft>
              <a:defRPr sz="1800">
                <a:solidFill>
                  <a:srgbClr val="FFFFFF"/>
                </a:solidFill>
              </a:defRPr>
            </a:pPr>
            <a:r>
              <a:t>  - Self-attention captures global context</a:t>
            </a:r>
          </a:p>
          <a:p>
            <a:pPr lvl="1">
              <a:spcBef>
                <a:spcPts val="1000"/>
              </a:spcBef>
              <a:spcAft>
                <a:spcPts val="600"/>
              </a:spcAft>
              <a:defRPr sz="1800">
                <a:solidFill>
                  <a:srgbClr val="FFFFFF"/>
                </a:solidFill>
              </a:defRPr>
            </a:pPr>
            <a:r>
              <a:t>  - Synapse multi-organ CT: Dice 0.772 (U-Net: 0.688)</a:t>
            </a:r>
          </a:p>
          <a:p>
            <a:pPr>
              <a:spcBef>
                <a:spcPts val="1000"/>
              </a:spcBef>
              <a:spcAft>
                <a:spcPts val="600"/>
              </a:spcAft>
              <a:defRPr sz="2000">
                <a:solidFill>
                  <a:srgbClr val="FFFFFF"/>
                </a:solidFill>
              </a:defRPr>
            </a:pPr>
          </a:p>
          <a:p>
            <a:pPr>
              <a:spcBef>
                <a:spcPts val="1000"/>
              </a:spcBef>
              <a:spcAft>
                <a:spcPts val="600"/>
              </a:spcAft>
              <a:defRPr sz="2000">
                <a:solidFill>
                  <a:srgbClr val="FFFFFF"/>
                </a:solidFill>
              </a:defRPr>
            </a:pPr>
            <a:r>
              <a:t>• Swin-UNET (Cao et al., 2022)</a:t>
            </a:r>
          </a:p>
          <a:p>
            <a:pPr lvl="1">
              <a:spcBef>
                <a:spcPts val="1000"/>
              </a:spcBef>
              <a:spcAft>
                <a:spcPts val="600"/>
              </a:spcAft>
              <a:defRPr sz="1800">
                <a:solidFill>
                  <a:srgbClr val="FFFFFF"/>
                </a:solidFill>
              </a:defRPr>
            </a:pPr>
            <a:r>
              <a:t>  - Pure transformer architecture with Swin Transformer blocks</a:t>
            </a:r>
          </a:p>
          <a:p>
            <a:pPr lvl="1">
              <a:spcBef>
                <a:spcPts val="1000"/>
              </a:spcBef>
              <a:spcAft>
                <a:spcPts val="600"/>
              </a:spcAft>
              <a:defRPr sz="1800">
                <a:solidFill>
                  <a:srgbClr val="FFFFFF"/>
                </a:solidFill>
              </a:defRPr>
            </a:pPr>
            <a:r>
              <a:t>  - Hierarchical shifted windows for efficiency</a:t>
            </a:r>
          </a:p>
          <a:p>
            <a:pPr lvl="1">
              <a:spcBef>
                <a:spcPts val="1000"/>
              </a:spcBef>
              <a:spcAft>
                <a:spcPts val="600"/>
              </a:spcAft>
              <a:defRPr sz="1800">
                <a:solidFill>
                  <a:srgbClr val="FFFFFF"/>
                </a:solidFill>
              </a:defRPr>
            </a:pPr>
            <a:r>
              <a:t>  - Competitive with CNN-based methods</a:t>
            </a:r>
          </a:p>
          <a:p>
            <a:pPr>
              <a:spcBef>
                <a:spcPts val="1000"/>
              </a:spcBef>
              <a:spcAft>
                <a:spcPts val="600"/>
              </a:spcAft>
              <a:defRPr sz="2000">
                <a:solidFill>
                  <a:srgbClr val="FFFFFF"/>
                </a:solidFill>
              </a:defRPr>
            </a:pPr>
          </a:p>
          <a:p>
            <a:pPr>
              <a:spcBef>
                <a:spcPts val="1000"/>
              </a:spcBef>
              <a:spcAft>
                <a:spcPts val="600"/>
              </a:spcAft>
              <a:defRPr sz="2000">
                <a:solidFill>
                  <a:srgbClr val="FFFFFF"/>
                </a:solidFill>
              </a:defRPr>
            </a:pPr>
            <a:r>
              <a:t>• nnFormer (Zhou et al., 2023)</a:t>
            </a:r>
          </a:p>
          <a:p>
            <a:pPr lvl="1">
              <a:spcBef>
                <a:spcPts val="1000"/>
              </a:spcBef>
              <a:spcAft>
                <a:spcPts val="600"/>
              </a:spcAft>
              <a:defRPr sz="1800">
                <a:solidFill>
                  <a:srgbClr val="FFFFFF"/>
                </a:solidFill>
              </a:defRPr>
            </a:pPr>
            <a:r>
              <a:t>  - Interleaved local attention and global attention</a:t>
            </a:r>
          </a:p>
          <a:p>
            <a:pPr lvl="1">
              <a:spcBef>
                <a:spcPts val="1000"/>
              </a:spcBef>
              <a:spcAft>
                <a:spcPts val="600"/>
              </a:spcAft>
              <a:defRPr sz="1800">
                <a:solidFill>
                  <a:srgbClr val="FFFFFF"/>
                </a:solidFill>
              </a:defRPr>
            </a:pPr>
            <a:r>
              <a:t>  - BTCV: Dice 0.873 (best transformer method)</a:t>
            </a:r>
          </a:p>
          <a:p>
            <a:pPr>
              <a:spcBef>
                <a:spcPts val="1000"/>
              </a:spcBef>
              <a:spcAft>
                <a:spcPts val="600"/>
              </a:spcAft>
              <a:defRPr sz="2000">
                <a:solidFill>
                  <a:srgbClr val="FFFFFF"/>
                </a:solidFill>
              </a:defRPr>
            </a:pPr>
          </a:p>
          <a:p>
            <a:pPr>
              <a:spcBef>
                <a:spcPts val="1000"/>
              </a:spcBef>
              <a:spcAft>
                <a:spcPts val="600"/>
              </a:spcAft>
              <a:defRPr sz="2000">
                <a:solidFill>
                  <a:srgbClr val="FFFFFF"/>
                </a:solidFill>
              </a:defRPr>
            </a:pPr>
            <a:r>
              <a:t>• Limitation: Requires large datasets (&gt;10k images) to outperform CNNs</a:t>
            </a:r>
          </a:p>
        </p:txBody>
      </p:sp>
      <p:sp>
        <p:nvSpPr>
          <p:cNvPr id="5" name="TextBox 4"/>
          <p:cNvSpPr txBox="1"/>
          <p:nvPr/>
        </p:nvSpPr>
        <p:spPr>
          <a:xfrm>
            <a:off x="8412480" y="6400800"/>
            <a:ext cx="457200" cy="274320"/>
          </a:xfrm>
          <a:prstGeom prst="rect">
            <a:avLst/>
          </a:prstGeom>
          <a:noFill/>
        </p:spPr>
        <p:txBody>
          <a:bodyPr wrap="none">
            <a:spAutoFit/>
          </a:bodyPr>
          <a:lstStyle/>
          <a:p>
            <a:pPr algn="r">
              <a:defRPr sz="1400">
                <a:solidFill>
                  <a:srgbClr val="DCDCDC"/>
                </a:solidFill>
              </a:defRPr>
            </a:pPr>
            <a:r>
              <a:t>12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93764"/>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none">
            <a:spAutoFit/>
          </a:bodyPr>
          <a:lstStyle/>
          <a:p>
            <a:pPr>
              <a:defRPr sz="4000" b="1">
                <a:solidFill>
                  <a:srgbClr val="FFFFFF"/>
                </a:solidFill>
              </a:defRPr>
            </a:pPr>
            <a:r>
              <a:t>Evolution Timeline</a:t>
            </a:r>
          </a:p>
        </p:txBody>
      </p:sp>
      <p:sp>
        <p:nvSpPr>
          <p:cNvPr id="3" name="Rectangle 2"/>
          <p:cNvSpPr/>
          <p:nvPr/>
        </p:nvSpPr>
        <p:spPr>
          <a:xfrm>
            <a:off x="457200" y="1005840"/>
            <a:ext cx="8229600" cy="0"/>
          </a:xfrm>
          <a:prstGeom prst="rect">
            <a:avLst/>
          </a:prstGeom>
          <a:ln w="38100">
            <a:solidFill>
              <a:srgbClr val="FF8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7863840" cy="4846320"/>
          </a:xfrm>
          <a:prstGeom prst="rect">
            <a:avLst/>
          </a:prstGeom>
          <a:noFill/>
        </p:spPr>
        <p:txBody>
          <a:bodyPr wrap="square">
            <a:spAutoFit/>
          </a:bodyPr>
          <a:lstStyle/>
          <a:p>
            <a:pPr>
              <a:spcBef>
                <a:spcPts val="1000"/>
              </a:spcBef>
              <a:spcAft>
                <a:spcPts val="600"/>
              </a:spcAft>
              <a:defRPr sz="2000">
                <a:solidFill>
                  <a:srgbClr val="FFFFFF"/>
                </a:solidFill>
              </a:defRPr>
            </a:pPr>
            <a:r>
              <a:t>2015: FCN - First end-to-end segmentation network</a:t>
            </a:r>
          </a:p>
          <a:p>
            <a:pPr>
              <a:spcBef>
                <a:spcPts val="1000"/>
              </a:spcBef>
              <a:spcAft>
                <a:spcPts val="600"/>
              </a:spcAft>
              <a:defRPr sz="2000">
                <a:solidFill>
                  <a:srgbClr val="FFFFFF"/>
                </a:solidFill>
              </a:defRPr>
            </a:pPr>
            <a:r>
              <a:t>      U-Net - Symmetric encoder-decoder for medical imaging ⭐</a:t>
            </a:r>
          </a:p>
          <a:p>
            <a:pPr>
              <a:spcBef>
                <a:spcPts val="1000"/>
              </a:spcBef>
              <a:spcAft>
                <a:spcPts val="600"/>
              </a:spcAft>
              <a:defRPr sz="2000">
                <a:solidFill>
                  <a:srgbClr val="FFFFFF"/>
                </a:solidFill>
              </a:defRPr>
            </a:pPr>
          </a:p>
          <a:p>
            <a:pPr>
              <a:spcBef>
                <a:spcPts val="1000"/>
              </a:spcBef>
              <a:spcAft>
                <a:spcPts val="600"/>
              </a:spcAft>
              <a:defRPr sz="2000">
                <a:solidFill>
                  <a:srgbClr val="FFFFFF"/>
                </a:solidFill>
              </a:defRPr>
            </a:pPr>
            <a:r>
              <a:t>2016: V-Net - 3D extension + Dice loss</a:t>
            </a:r>
          </a:p>
          <a:p>
            <a:pPr>
              <a:spcBef>
                <a:spcPts val="1000"/>
              </a:spcBef>
              <a:spcAft>
                <a:spcPts val="600"/>
              </a:spcAft>
              <a:defRPr sz="2000">
                <a:solidFill>
                  <a:srgbClr val="FFFFFF"/>
                </a:solidFill>
              </a:defRPr>
            </a:pPr>
          </a:p>
          <a:p>
            <a:pPr>
              <a:spcBef>
                <a:spcPts val="1000"/>
              </a:spcBef>
              <a:spcAft>
                <a:spcPts val="600"/>
              </a:spcAft>
              <a:defRPr sz="2000">
                <a:solidFill>
                  <a:srgbClr val="FFFFFF"/>
                </a:solidFill>
              </a:defRPr>
            </a:pPr>
            <a:r>
              <a:t>2018: U-Net++ - Nested dense skip connections</a:t>
            </a:r>
          </a:p>
          <a:p>
            <a:pPr>
              <a:spcBef>
                <a:spcPts val="1000"/>
              </a:spcBef>
              <a:spcAft>
                <a:spcPts val="600"/>
              </a:spcAft>
              <a:defRPr sz="2000">
                <a:solidFill>
                  <a:srgbClr val="FFFFFF"/>
                </a:solidFill>
              </a:defRPr>
            </a:pPr>
            <a:r>
              <a:t>      Attention U-Net - Attention gates ⭐</a:t>
            </a:r>
          </a:p>
          <a:p>
            <a:pPr>
              <a:spcBef>
                <a:spcPts val="1000"/>
              </a:spcBef>
              <a:spcAft>
                <a:spcPts val="600"/>
              </a:spcAft>
              <a:defRPr sz="2000">
                <a:solidFill>
                  <a:srgbClr val="FFFFFF"/>
                </a:solidFill>
              </a:defRPr>
            </a:pPr>
          </a:p>
          <a:p>
            <a:pPr>
              <a:spcBef>
                <a:spcPts val="1000"/>
              </a:spcBef>
              <a:spcAft>
                <a:spcPts val="600"/>
              </a:spcAft>
              <a:defRPr sz="2000">
                <a:solidFill>
                  <a:srgbClr val="FFFFFF"/>
                </a:solidFill>
              </a:defRPr>
            </a:pPr>
            <a:r>
              <a:t>2021: nnU-Net - Self-configuring framework ⭐</a:t>
            </a:r>
          </a:p>
          <a:p>
            <a:pPr>
              <a:spcBef>
                <a:spcPts val="1000"/>
              </a:spcBef>
              <a:spcAft>
                <a:spcPts val="600"/>
              </a:spcAft>
              <a:defRPr sz="2000">
                <a:solidFill>
                  <a:srgbClr val="FFFFFF"/>
                </a:solidFill>
              </a:defRPr>
            </a:pPr>
            <a:r>
              <a:t>      TransUNet - Transformers meet U-Net</a:t>
            </a:r>
          </a:p>
          <a:p>
            <a:pPr>
              <a:spcBef>
                <a:spcPts val="1000"/>
              </a:spcBef>
              <a:spcAft>
                <a:spcPts val="600"/>
              </a:spcAft>
              <a:defRPr sz="2000">
                <a:solidFill>
                  <a:srgbClr val="FFFFFF"/>
                </a:solidFill>
              </a:defRPr>
            </a:pPr>
          </a:p>
          <a:p>
            <a:pPr>
              <a:spcBef>
                <a:spcPts val="1000"/>
              </a:spcBef>
              <a:spcAft>
                <a:spcPts val="600"/>
              </a:spcAft>
              <a:defRPr sz="2000">
                <a:solidFill>
                  <a:srgbClr val="FFFFFF"/>
                </a:solidFill>
              </a:defRPr>
            </a:pPr>
            <a:r>
              <a:t>2022: Swin-UNET - Pure transformer architecture</a:t>
            </a:r>
          </a:p>
          <a:p>
            <a:pPr>
              <a:spcBef>
                <a:spcPts val="1000"/>
              </a:spcBef>
              <a:spcAft>
                <a:spcPts val="600"/>
              </a:spcAft>
              <a:defRPr sz="2000">
                <a:solidFill>
                  <a:srgbClr val="FFFFFF"/>
                </a:solidFill>
              </a:defRPr>
            </a:pPr>
          </a:p>
          <a:p>
            <a:pPr>
              <a:spcBef>
                <a:spcPts val="1000"/>
              </a:spcBef>
              <a:spcAft>
                <a:spcPts val="600"/>
              </a:spcAft>
              <a:defRPr sz="2000">
                <a:solidFill>
                  <a:srgbClr val="FFFFFF"/>
                </a:solidFill>
              </a:defRPr>
            </a:pPr>
            <a:r>
              <a:t>2023: nnFormer - Efficient transformer</a:t>
            </a:r>
          </a:p>
          <a:p>
            <a:pPr>
              <a:spcBef>
                <a:spcPts val="1000"/>
              </a:spcBef>
              <a:spcAft>
                <a:spcPts val="600"/>
              </a:spcAft>
              <a:defRPr sz="2000">
                <a:solidFill>
                  <a:srgbClr val="FFFFFF"/>
                </a:solidFill>
              </a:defRPr>
            </a:pPr>
            <a:r>
              <a:t>      Foundation Models - SAM, MedSAM (emerging)</a:t>
            </a:r>
          </a:p>
        </p:txBody>
      </p:sp>
      <p:sp>
        <p:nvSpPr>
          <p:cNvPr id="5" name="TextBox 4"/>
          <p:cNvSpPr txBox="1"/>
          <p:nvPr/>
        </p:nvSpPr>
        <p:spPr>
          <a:xfrm>
            <a:off x="8412480" y="6400800"/>
            <a:ext cx="457200" cy="274320"/>
          </a:xfrm>
          <a:prstGeom prst="rect">
            <a:avLst/>
          </a:prstGeom>
          <a:noFill/>
        </p:spPr>
        <p:txBody>
          <a:bodyPr wrap="none">
            <a:spAutoFit/>
          </a:bodyPr>
          <a:lstStyle/>
          <a:p>
            <a:pPr algn="r">
              <a:defRPr sz="1400">
                <a:solidFill>
                  <a:srgbClr val="DCDCDC"/>
                </a:solidFill>
              </a:defRPr>
            </a:pPr>
            <a:r>
              <a:t>13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93764"/>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none">
            <a:spAutoFit/>
          </a:bodyPr>
          <a:lstStyle/>
          <a:p>
            <a:pPr>
              <a:defRPr sz="4000" b="1">
                <a:solidFill>
                  <a:srgbClr val="FFFFFF"/>
                </a:solidFill>
              </a:defRPr>
            </a:pPr>
            <a:r>
              <a:t>Attention U-Net: Motivation</a:t>
            </a:r>
          </a:p>
        </p:txBody>
      </p:sp>
      <p:sp>
        <p:nvSpPr>
          <p:cNvPr id="3" name="Rectangle 2"/>
          <p:cNvSpPr/>
          <p:nvPr/>
        </p:nvSpPr>
        <p:spPr>
          <a:xfrm>
            <a:off x="457200" y="1005840"/>
            <a:ext cx="8229600" cy="0"/>
          </a:xfrm>
          <a:prstGeom prst="rect">
            <a:avLst/>
          </a:prstGeom>
          <a:ln w="38100">
            <a:solidFill>
              <a:srgbClr val="FF8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7863840" cy="4846320"/>
          </a:xfrm>
          <a:prstGeom prst="rect">
            <a:avLst/>
          </a:prstGeom>
          <a:noFill/>
        </p:spPr>
        <p:txBody>
          <a:bodyPr wrap="square">
            <a:spAutoFit/>
          </a:bodyPr>
          <a:lstStyle/>
          <a:p>
            <a:pPr>
              <a:spcBef>
                <a:spcPts val="1000"/>
              </a:spcBef>
              <a:spcAft>
                <a:spcPts val="600"/>
              </a:spcAft>
              <a:defRPr sz="2000">
                <a:solidFill>
                  <a:srgbClr val="FFFFFF"/>
                </a:solidFill>
              </a:defRPr>
            </a:pPr>
            <a:r>
              <a:t>• Problem with Standard U-Net Skip Connections:</a:t>
            </a:r>
          </a:p>
          <a:p>
            <a:pPr lvl="1">
              <a:spcBef>
                <a:spcPts val="1000"/>
              </a:spcBef>
              <a:spcAft>
                <a:spcPts val="600"/>
              </a:spcAft>
              <a:defRPr sz="1800">
                <a:solidFill>
                  <a:srgbClr val="FFFFFF"/>
                </a:solidFill>
              </a:defRPr>
            </a:pPr>
            <a:r>
              <a:t>  - All encoder features are concatenated equally</a:t>
            </a:r>
          </a:p>
          <a:p>
            <a:pPr lvl="1">
              <a:spcBef>
                <a:spcPts val="1000"/>
              </a:spcBef>
              <a:spcAft>
                <a:spcPts val="600"/>
              </a:spcAft>
              <a:defRPr sz="1800">
                <a:solidFill>
                  <a:srgbClr val="FFFFFF"/>
                </a:solidFill>
              </a:defRPr>
            </a:pPr>
            <a:r>
              <a:t>  - No mechanism to emphasize relevant regions</a:t>
            </a:r>
          </a:p>
          <a:p>
            <a:pPr lvl="1">
              <a:spcBef>
                <a:spcPts val="1000"/>
              </a:spcBef>
              <a:spcAft>
                <a:spcPts val="600"/>
              </a:spcAft>
              <a:defRPr sz="1800">
                <a:solidFill>
                  <a:srgbClr val="FFFFFF"/>
                </a:solidFill>
              </a:defRPr>
            </a:pPr>
            <a:r>
              <a:t>  - Background features can overwhelm small target regions</a:t>
            </a:r>
          </a:p>
          <a:p>
            <a:pPr>
              <a:spcBef>
                <a:spcPts val="1000"/>
              </a:spcBef>
              <a:spcAft>
                <a:spcPts val="600"/>
              </a:spcAft>
              <a:defRPr sz="2000">
                <a:solidFill>
                  <a:srgbClr val="FFFFFF"/>
                </a:solidFill>
              </a:defRPr>
            </a:pPr>
          </a:p>
          <a:p>
            <a:pPr>
              <a:spcBef>
                <a:spcPts val="1000"/>
              </a:spcBef>
              <a:spcAft>
                <a:spcPts val="600"/>
              </a:spcAft>
              <a:defRPr sz="2000">
                <a:solidFill>
                  <a:srgbClr val="FFFFFF"/>
                </a:solidFill>
              </a:defRPr>
            </a:pPr>
            <a:r>
              <a:t>• Attention U-Net Solution:</a:t>
            </a:r>
          </a:p>
          <a:p>
            <a:pPr lvl="1">
              <a:spcBef>
                <a:spcPts val="1000"/>
              </a:spcBef>
              <a:spcAft>
                <a:spcPts val="600"/>
              </a:spcAft>
              <a:defRPr sz="1800">
                <a:solidFill>
                  <a:srgbClr val="FFFFFF"/>
                </a:solidFill>
              </a:defRPr>
            </a:pPr>
            <a:r>
              <a:t>  - Add attention gates before concatenation</a:t>
            </a:r>
          </a:p>
          <a:p>
            <a:pPr lvl="1">
              <a:spcBef>
                <a:spcPts val="1000"/>
              </a:spcBef>
              <a:spcAft>
                <a:spcPts val="600"/>
              </a:spcAft>
              <a:defRPr sz="1800">
                <a:solidFill>
                  <a:srgbClr val="FFFFFF"/>
                </a:solidFill>
              </a:defRPr>
            </a:pPr>
            <a:r>
              <a:t>  - Learn to highlight salient features</a:t>
            </a:r>
          </a:p>
          <a:p>
            <a:pPr lvl="1">
              <a:spcBef>
                <a:spcPts val="1000"/>
              </a:spcBef>
              <a:spcAft>
                <a:spcPts val="600"/>
              </a:spcAft>
              <a:defRPr sz="1800">
                <a:solidFill>
                  <a:srgbClr val="FFFFFF"/>
                </a:solidFill>
              </a:defRPr>
            </a:pPr>
            <a:r>
              <a:t>  - Suppress irrelevant activations</a:t>
            </a:r>
          </a:p>
          <a:p>
            <a:pPr>
              <a:spcBef>
                <a:spcPts val="1000"/>
              </a:spcBef>
              <a:spcAft>
                <a:spcPts val="600"/>
              </a:spcAft>
              <a:defRPr sz="2000">
                <a:solidFill>
                  <a:srgbClr val="FFFFFF"/>
                </a:solidFill>
              </a:defRPr>
            </a:pPr>
          </a:p>
          <a:p>
            <a:pPr>
              <a:spcBef>
                <a:spcPts val="1000"/>
              </a:spcBef>
              <a:spcAft>
                <a:spcPts val="600"/>
              </a:spcAft>
              <a:defRPr sz="2000">
                <a:solidFill>
                  <a:srgbClr val="FFFFFF"/>
                </a:solidFill>
              </a:defRPr>
            </a:pPr>
            <a:r>
              <a:t>• Benefits:</a:t>
            </a:r>
          </a:p>
          <a:p>
            <a:pPr lvl="1">
              <a:spcBef>
                <a:spcPts val="1000"/>
              </a:spcBef>
              <a:spcAft>
                <a:spcPts val="600"/>
              </a:spcAft>
              <a:defRPr sz="1800">
                <a:solidFill>
                  <a:srgbClr val="FFFFFF"/>
                </a:solidFill>
              </a:defRPr>
            </a:pPr>
            <a:r>
              <a:t>  - Improved sensitivity for small structures</a:t>
            </a:r>
          </a:p>
          <a:p>
            <a:pPr lvl="1">
              <a:spcBef>
                <a:spcPts val="1000"/>
              </a:spcBef>
              <a:spcAft>
                <a:spcPts val="600"/>
              </a:spcAft>
              <a:defRPr sz="1800">
                <a:solidFill>
                  <a:srgbClr val="FFFFFF"/>
                </a:solidFill>
              </a:defRPr>
            </a:pPr>
            <a:r>
              <a:t>  - Better handling of class imbalance</a:t>
            </a:r>
          </a:p>
          <a:p>
            <a:pPr lvl="1">
              <a:spcBef>
                <a:spcPts val="1000"/>
              </a:spcBef>
              <a:spcAft>
                <a:spcPts val="600"/>
              </a:spcAft>
              <a:defRPr sz="1800">
                <a:solidFill>
                  <a:srgbClr val="FFFFFF"/>
                </a:solidFill>
              </a:defRPr>
            </a:pPr>
            <a:r>
              <a:t>  - Interpretability through attention weights</a:t>
            </a:r>
          </a:p>
          <a:p>
            <a:pPr lvl="1">
              <a:spcBef>
                <a:spcPts val="1000"/>
              </a:spcBef>
              <a:spcAft>
                <a:spcPts val="600"/>
              </a:spcAft>
              <a:defRPr sz="1800">
                <a:solidFill>
                  <a:srgbClr val="FFFFFF"/>
                </a:solidFill>
              </a:defRPr>
            </a:pPr>
            <a:r>
              <a:t>  - Minimal computational overhead</a:t>
            </a:r>
          </a:p>
        </p:txBody>
      </p:sp>
      <p:sp>
        <p:nvSpPr>
          <p:cNvPr id="5" name="TextBox 4"/>
          <p:cNvSpPr txBox="1"/>
          <p:nvPr/>
        </p:nvSpPr>
        <p:spPr>
          <a:xfrm>
            <a:off x="8412480" y="6400800"/>
            <a:ext cx="457200" cy="274320"/>
          </a:xfrm>
          <a:prstGeom prst="rect">
            <a:avLst/>
          </a:prstGeom>
          <a:noFill/>
        </p:spPr>
        <p:txBody>
          <a:bodyPr wrap="none">
            <a:spAutoFit/>
          </a:bodyPr>
          <a:lstStyle/>
          <a:p>
            <a:pPr algn="r">
              <a:defRPr sz="1400">
                <a:solidFill>
                  <a:srgbClr val="DCDCDC"/>
                </a:solidFill>
              </a:defRPr>
            </a:pPr>
            <a:r>
              <a:t>14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93764"/>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none">
            <a:spAutoFit/>
          </a:bodyPr>
          <a:lstStyle/>
          <a:p>
            <a:pPr>
              <a:defRPr sz="4000" b="1">
                <a:solidFill>
                  <a:srgbClr val="FFFFFF"/>
                </a:solidFill>
              </a:defRPr>
            </a:pPr>
            <a:r>
              <a:t>Attention Gate Mechanism</a:t>
            </a:r>
          </a:p>
        </p:txBody>
      </p:sp>
      <p:sp>
        <p:nvSpPr>
          <p:cNvPr id="3" name="Rectangle 2"/>
          <p:cNvSpPr/>
          <p:nvPr/>
        </p:nvSpPr>
        <p:spPr>
          <a:xfrm>
            <a:off x="457200" y="1005840"/>
            <a:ext cx="8229600" cy="0"/>
          </a:xfrm>
          <a:prstGeom prst="rect">
            <a:avLst/>
          </a:prstGeom>
          <a:ln w="38100">
            <a:solidFill>
              <a:srgbClr val="FF8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7863840" cy="4846320"/>
          </a:xfrm>
          <a:prstGeom prst="rect">
            <a:avLst/>
          </a:prstGeom>
          <a:noFill/>
        </p:spPr>
        <p:txBody>
          <a:bodyPr wrap="square">
            <a:spAutoFit/>
          </a:bodyPr>
          <a:lstStyle/>
          <a:p>
            <a:pPr>
              <a:spcBef>
                <a:spcPts val="1000"/>
              </a:spcBef>
              <a:spcAft>
                <a:spcPts val="600"/>
              </a:spcAft>
              <a:defRPr sz="2000">
                <a:solidFill>
                  <a:srgbClr val="FFFFFF"/>
                </a:solidFill>
              </a:defRPr>
            </a:pPr>
            <a:r>
              <a:t>• Inputs:</a:t>
            </a:r>
          </a:p>
          <a:p>
            <a:pPr lvl="1">
              <a:spcBef>
                <a:spcPts val="1000"/>
              </a:spcBef>
              <a:spcAft>
                <a:spcPts val="600"/>
              </a:spcAft>
              <a:defRPr sz="1800">
                <a:solidFill>
                  <a:srgbClr val="FFFFFF"/>
                </a:solidFill>
              </a:defRPr>
            </a:pPr>
            <a:r>
              <a:t>  - x: Skip connection features from encoder (high resolution)</a:t>
            </a:r>
          </a:p>
          <a:p>
            <a:pPr lvl="1">
              <a:spcBef>
                <a:spcPts val="1000"/>
              </a:spcBef>
              <a:spcAft>
                <a:spcPts val="600"/>
              </a:spcAft>
              <a:defRPr sz="1800">
                <a:solidFill>
                  <a:srgbClr val="FFFFFF"/>
                </a:solidFill>
              </a:defRPr>
            </a:pPr>
            <a:r>
              <a:t>  - g: Gating signal from decoder (coarse, semantic)</a:t>
            </a:r>
          </a:p>
          <a:p>
            <a:pPr>
              <a:spcBef>
                <a:spcPts val="1000"/>
              </a:spcBef>
              <a:spcAft>
                <a:spcPts val="600"/>
              </a:spcAft>
              <a:defRPr sz="2000">
                <a:solidFill>
                  <a:srgbClr val="FFFFFF"/>
                </a:solidFill>
              </a:defRPr>
            </a:pPr>
          </a:p>
          <a:p>
            <a:pPr>
              <a:spcBef>
                <a:spcPts val="1000"/>
              </a:spcBef>
              <a:spcAft>
                <a:spcPts val="600"/>
              </a:spcAft>
              <a:defRPr sz="2000">
                <a:solidFill>
                  <a:srgbClr val="FFFFFF"/>
                </a:solidFill>
              </a:defRPr>
            </a:pPr>
            <a:r>
              <a:t>• Operation:</a:t>
            </a:r>
          </a:p>
          <a:p>
            <a:pPr>
              <a:spcBef>
                <a:spcPts val="1000"/>
              </a:spcBef>
              <a:spcAft>
                <a:spcPts val="600"/>
              </a:spcAft>
              <a:defRPr sz="2000">
                <a:solidFill>
                  <a:srgbClr val="FFFFFF"/>
                </a:solidFill>
              </a:defRPr>
            </a:pPr>
            <a:r>
              <a:t>  1. Transform x and g to same channel dimension:</a:t>
            </a:r>
          </a:p>
          <a:p>
            <a:pPr>
              <a:spcBef>
                <a:spcPts val="1000"/>
              </a:spcBef>
              <a:spcAft>
                <a:spcPts val="600"/>
              </a:spcAft>
              <a:defRPr sz="2000">
                <a:solidFill>
                  <a:srgbClr val="FFFFFF"/>
                </a:solidFill>
              </a:defRPr>
            </a:pPr>
            <a:r>
              <a:t>     W_x(x) + W_g(g)  [element-wise addition after 1×1 conv]</a:t>
            </a:r>
          </a:p>
          <a:p>
            <a:pPr>
              <a:spcBef>
                <a:spcPts val="1000"/>
              </a:spcBef>
              <a:spcAft>
                <a:spcPts val="600"/>
              </a:spcAft>
              <a:defRPr sz="2000">
                <a:solidFill>
                  <a:srgbClr val="FFFFFF"/>
                </a:solidFill>
              </a:defRPr>
            </a:pPr>
          </a:p>
          <a:p>
            <a:pPr>
              <a:spcBef>
                <a:spcPts val="1000"/>
              </a:spcBef>
              <a:spcAft>
                <a:spcPts val="600"/>
              </a:spcAft>
              <a:defRPr sz="2000">
                <a:solidFill>
                  <a:srgbClr val="FFFFFF"/>
                </a:solidFill>
              </a:defRPr>
            </a:pPr>
            <a:r>
              <a:t>  2. Apply ReLU activation</a:t>
            </a:r>
          </a:p>
          <a:p>
            <a:pPr>
              <a:spcBef>
                <a:spcPts val="1000"/>
              </a:spcBef>
              <a:spcAft>
                <a:spcPts val="600"/>
              </a:spcAft>
              <a:defRPr sz="2000">
                <a:solidFill>
                  <a:srgbClr val="FFFFFF"/>
                </a:solidFill>
              </a:defRPr>
            </a:pPr>
          </a:p>
          <a:p>
            <a:pPr>
              <a:spcBef>
                <a:spcPts val="1000"/>
              </a:spcBef>
              <a:spcAft>
                <a:spcPts val="600"/>
              </a:spcAft>
              <a:defRPr sz="2000">
                <a:solidFill>
                  <a:srgbClr val="FFFFFF"/>
                </a:solidFill>
              </a:defRPr>
            </a:pPr>
            <a:r>
              <a:t>  3. Generate attention coefficients:</a:t>
            </a:r>
          </a:p>
          <a:p>
            <a:pPr>
              <a:spcBef>
                <a:spcPts val="1000"/>
              </a:spcBef>
              <a:spcAft>
                <a:spcPts val="600"/>
              </a:spcAft>
              <a:defRPr sz="2000">
                <a:solidFill>
                  <a:srgbClr val="FFFFFF"/>
                </a:solidFill>
              </a:defRPr>
            </a:pPr>
            <a:r>
              <a:t>     α = σ(ψ(ReLU(W_x(x) + W_g(g))))</a:t>
            </a:r>
          </a:p>
          <a:p>
            <a:pPr>
              <a:spcBef>
                <a:spcPts val="1000"/>
              </a:spcBef>
              <a:spcAft>
                <a:spcPts val="600"/>
              </a:spcAft>
              <a:defRPr sz="2000">
                <a:solidFill>
                  <a:srgbClr val="FFFFFF"/>
                </a:solidFill>
              </a:defRPr>
            </a:pPr>
            <a:r>
              <a:t>     where ψ is 1×1 conv, σ is sigmoid</a:t>
            </a:r>
          </a:p>
          <a:p>
            <a:pPr>
              <a:spcBef>
                <a:spcPts val="1000"/>
              </a:spcBef>
              <a:spcAft>
                <a:spcPts val="600"/>
              </a:spcAft>
              <a:defRPr sz="2000">
                <a:solidFill>
                  <a:srgbClr val="FFFFFF"/>
                </a:solidFill>
              </a:defRPr>
            </a:pPr>
          </a:p>
          <a:p>
            <a:pPr>
              <a:spcBef>
                <a:spcPts val="1000"/>
              </a:spcBef>
              <a:spcAft>
                <a:spcPts val="600"/>
              </a:spcAft>
              <a:defRPr sz="2000">
                <a:solidFill>
                  <a:srgbClr val="FFFFFF"/>
                </a:solidFill>
              </a:defRPr>
            </a:pPr>
            <a:r>
              <a:t>  4. Apply attention to skip connection:</a:t>
            </a:r>
          </a:p>
          <a:p>
            <a:pPr>
              <a:spcBef>
                <a:spcPts val="1000"/>
              </a:spcBef>
              <a:spcAft>
                <a:spcPts val="600"/>
              </a:spcAft>
              <a:defRPr sz="2000">
                <a:solidFill>
                  <a:srgbClr val="FFFFFF"/>
                </a:solidFill>
              </a:defRPr>
            </a:pPr>
            <a:r>
              <a:t>     x̂ = α ⊙ x  [element-wise multiplication]</a:t>
            </a:r>
          </a:p>
        </p:txBody>
      </p:sp>
      <p:sp>
        <p:nvSpPr>
          <p:cNvPr id="5" name="TextBox 4"/>
          <p:cNvSpPr txBox="1"/>
          <p:nvPr/>
        </p:nvSpPr>
        <p:spPr>
          <a:xfrm>
            <a:off x="8412480" y="6400800"/>
            <a:ext cx="457200" cy="274320"/>
          </a:xfrm>
          <a:prstGeom prst="rect">
            <a:avLst/>
          </a:prstGeom>
          <a:noFill/>
        </p:spPr>
        <p:txBody>
          <a:bodyPr wrap="none">
            <a:spAutoFit/>
          </a:bodyPr>
          <a:lstStyle/>
          <a:p>
            <a:pPr algn="r">
              <a:defRPr sz="1400">
                <a:solidFill>
                  <a:srgbClr val="DCDCDC"/>
                </a:solidFill>
              </a:defRPr>
            </a:pPr>
            <a:r>
              <a:t>15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93764"/>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none">
            <a:spAutoFit/>
          </a:bodyPr>
          <a:lstStyle/>
          <a:p>
            <a:pPr>
              <a:defRPr sz="4000" b="1">
                <a:solidFill>
                  <a:srgbClr val="FFFFFF"/>
                </a:solidFill>
              </a:defRPr>
            </a:pPr>
            <a:r>
              <a:t>Attention Gate: Mathematical Formulation</a:t>
            </a:r>
          </a:p>
        </p:txBody>
      </p:sp>
      <p:sp>
        <p:nvSpPr>
          <p:cNvPr id="3" name="Rectangle 2"/>
          <p:cNvSpPr/>
          <p:nvPr/>
        </p:nvSpPr>
        <p:spPr>
          <a:xfrm>
            <a:off x="457200" y="1005840"/>
            <a:ext cx="8229600" cy="0"/>
          </a:xfrm>
          <a:prstGeom prst="rect">
            <a:avLst/>
          </a:prstGeom>
          <a:ln w="38100">
            <a:solidFill>
              <a:srgbClr val="FF8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7863840" cy="4846320"/>
          </a:xfrm>
          <a:prstGeom prst="rect">
            <a:avLst/>
          </a:prstGeom>
          <a:noFill/>
        </p:spPr>
        <p:txBody>
          <a:bodyPr wrap="square">
            <a:spAutoFit/>
          </a:bodyPr>
          <a:lstStyle/>
          <a:p>
            <a:pPr>
              <a:spcBef>
                <a:spcPts val="1000"/>
              </a:spcBef>
              <a:spcAft>
                <a:spcPts val="600"/>
              </a:spcAft>
              <a:defRPr sz="2000">
                <a:solidFill>
                  <a:srgbClr val="FFFFFF"/>
                </a:solidFill>
              </a:defRPr>
            </a:pPr>
            <a:r>
              <a:t>• Full Mathematical Expression:</a:t>
            </a:r>
          </a:p>
          <a:p>
            <a:pPr>
              <a:spcBef>
                <a:spcPts val="1000"/>
              </a:spcBef>
              <a:spcAft>
                <a:spcPts val="600"/>
              </a:spcAft>
              <a:defRPr sz="2000">
                <a:solidFill>
                  <a:srgbClr val="FFFFFF"/>
                </a:solidFill>
              </a:defRPr>
            </a:pPr>
          </a:p>
          <a:p>
            <a:pPr>
              <a:spcBef>
                <a:spcPts val="1000"/>
              </a:spcBef>
              <a:spcAft>
                <a:spcPts val="600"/>
              </a:spcAft>
              <a:defRPr sz="2000">
                <a:solidFill>
                  <a:srgbClr val="FFFFFF"/>
                </a:solidFill>
              </a:defRPr>
            </a:pPr>
            <a:r>
              <a:t>  q_att = ψ^T(σ_1(W_x^T x + W_g^T g + b_g)) + b_ψ</a:t>
            </a:r>
          </a:p>
          <a:p>
            <a:pPr>
              <a:spcBef>
                <a:spcPts val="1000"/>
              </a:spcBef>
              <a:spcAft>
                <a:spcPts val="600"/>
              </a:spcAft>
              <a:defRPr sz="2000">
                <a:solidFill>
                  <a:srgbClr val="FFFFFF"/>
                </a:solidFill>
              </a:defRPr>
            </a:pPr>
          </a:p>
          <a:p>
            <a:pPr>
              <a:spcBef>
                <a:spcPts val="1000"/>
              </a:spcBef>
              <a:spcAft>
                <a:spcPts val="600"/>
              </a:spcAft>
              <a:defRPr sz="2000">
                <a:solidFill>
                  <a:srgbClr val="FFFFFF"/>
                </a:solidFill>
              </a:defRPr>
            </a:pPr>
            <a:r>
              <a:t>  α = σ_2(q_att)</a:t>
            </a:r>
          </a:p>
          <a:p>
            <a:pPr>
              <a:spcBef>
                <a:spcPts val="1000"/>
              </a:spcBef>
              <a:spcAft>
                <a:spcPts val="600"/>
              </a:spcAft>
              <a:defRPr sz="2000">
                <a:solidFill>
                  <a:srgbClr val="FFFFFF"/>
                </a:solidFill>
              </a:defRPr>
            </a:pPr>
          </a:p>
          <a:p>
            <a:pPr>
              <a:spcBef>
                <a:spcPts val="1000"/>
              </a:spcBef>
              <a:spcAft>
                <a:spcPts val="600"/>
              </a:spcAft>
              <a:defRPr sz="2000">
                <a:solidFill>
                  <a:srgbClr val="FFFFFF"/>
                </a:solidFill>
              </a:defRPr>
            </a:pPr>
            <a:r>
              <a:t>  x̂ = x ⊙ α</a:t>
            </a:r>
          </a:p>
          <a:p>
            <a:pPr>
              <a:spcBef>
                <a:spcPts val="1000"/>
              </a:spcBef>
              <a:spcAft>
                <a:spcPts val="600"/>
              </a:spcAft>
              <a:defRPr sz="2000">
                <a:solidFill>
                  <a:srgbClr val="FFFFFF"/>
                </a:solidFill>
              </a:defRPr>
            </a:pPr>
          </a:p>
          <a:p>
            <a:pPr>
              <a:spcBef>
                <a:spcPts val="1000"/>
              </a:spcBef>
              <a:spcAft>
                <a:spcPts val="600"/>
              </a:spcAft>
              <a:defRPr sz="2000">
                <a:solidFill>
                  <a:srgbClr val="FFFFFF"/>
                </a:solidFill>
              </a:defRPr>
            </a:pPr>
            <a:r>
              <a:t>• Where:</a:t>
            </a:r>
          </a:p>
          <a:p>
            <a:pPr lvl="1">
              <a:spcBef>
                <a:spcPts val="1000"/>
              </a:spcBef>
              <a:spcAft>
                <a:spcPts val="600"/>
              </a:spcAft>
              <a:defRPr sz="1800">
                <a:solidFill>
                  <a:srgbClr val="FFFFFF"/>
                </a:solidFill>
              </a:defRPr>
            </a:pPr>
            <a:r>
              <a:t>  - W_x, W_g: Linear transformations (1×1 conv)</a:t>
            </a:r>
          </a:p>
          <a:p>
            <a:pPr lvl="1">
              <a:spcBef>
                <a:spcPts val="1000"/>
              </a:spcBef>
              <a:spcAft>
                <a:spcPts val="600"/>
              </a:spcAft>
              <a:defRPr sz="1800">
                <a:solidFill>
                  <a:srgbClr val="FFFFFF"/>
                </a:solidFill>
              </a:defRPr>
            </a:pPr>
            <a:r>
              <a:t>  - ψ: Attention coefficient generator (1×1 conv)</a:t>
            </a:r>
          </a:p>
          <a:p>
            <a:pPr lvl="1">
              <a:spcBef>
                <a:spcPts val="1000"/>
              </a:spcBef>
              <a:spcAft>
                <a:spcPts val="600"/>
              </a:spcAft>
              <a:defRPr sz="1800">
                <a:solidFill>
                  <a:srgbClr val="FFFFFF"/>
                </a:solidFill>
              </a:defRPr>
            </a:pPr>
            <a:r>
              <a:t>  - σ_1: ReLU activation</a:t>
            </a:r>
          </a:p>
          <a:p>
            <a:pPr lvl="1">
              <a:spcBef>
                <a:spcPts val="1000"/>
              </a:spcBef>
              <a:spcAft>
                <a:spcPts val="600"/>
              </a:spcAft>
              <a:defRPr sz="1800">
                <a:solidFill>
                  <a:srgbClr val="FFFFFF"/>
                </a:solidFill>
              </a:defRPr>
            </a:pPr>
            <a:r>
              <a:t>  - σ_2: Sigmoid activation</a:t>
            </a:r>
          </a:p>
          <a:p>
            <a:pPr lvl="1">
              <a:spcBef>
                <a:spcPts val="1000"/>
              </a:spcBef>
              <a:spcAft>
                <a:spcPts val="600"/>
              </a:spcAft>
              <a:defRPr sz="1800">
                <a:solidFill>
                  <a:srgbClr val="FFFFFF"/>
                </a:solidFill>
              </a:defRPr>
            </a:pPr>
            <a:r>
              <a:t>  - ⊙: Element-wise multiplication (broadcast)</a:t>
            </a:r>
          </a:p>
          <a:p>
            <a:pPr>
              <a:spcBef>
                <a:spcPts val="1000"/>
              </a:spcBef>
              <a:spcAft>
                <a:spcPts val="600"/>
              </a:spcAft>
              <a:defRPr sz="2000">
                <a:solidFill>
                  <a:srgbClr val="FFFFFF"/>
                </a:solidFill>
              </a:defRPr>
            </a:pPr>
          </a:p>
          <a:p>
            <a:pPr>
              <a:spcBef>
                <a:spcPts val="1000"/>
              </a:spcBef>
              <a:spcAft>
                <a:spcPts val="600"/>
              </a:spcAft>
              <a:defRPr sz="2000">
                <a:solidFill>
                  <a:srgbClr val="FFFFFF"/>
                </a:solidFill>
              </a:defRPr>
            </a:pPr>
            <a:r>
              <a:t>• Key Property: Differentiable, trained end-to-end with backprop</a:t>
            </a:r>
          </a:p>
        </p:txBody>
      </p:sp>
      <p:sp>
        <p:nvSpPr>
          <p:cNvPr id="5" name="TextBox 4"/>
          <p:cNvSpPr txBox="1"/>
          <p:nvPr/>
        </p:nvSpPr>
        <p:spPr>
          <a:xfrm>
            <a:off x="8412480" y="6400800"/>
            <a:ext cx="457200" cy="274320"/>
          </a:xfrm>
          <a:prstGeom prst="rect">
            <a:avLst/>
          </a:prstGeom>
          <a:noFill/>
        </p:spPr>
        <p:txBody>
          <a:bodyPr wrap="none">
            <a:spAutoFit/>
          </a:bodyPr>
          <a:lstStyle/>
          <a:p>
            <a:pPr algn="r">
              <a:defRPr sz="1400">
                <a:solidFill>
                  <a:srgbClr val="DCDCDC"/>
                </a:solidFill>
              </a:defRPr>
            </a:pPr>
            <a:r>
              <a:t>16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93764"/>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none">
            <a:spAutoFit/>
          </a:bodyPr>
          <a:lstStyle/>
          <a:p>
            <a:pPr>
              <a:defRPr sz="4000" b="1">
                <a:solidFill>
                  <a:srgbClr val="FFFFFF"/>
                </a:solidFill>
              </a:defRPr>
            </a:pPr>
            <a:r>
              <a:t>Attention U-Net vs Standard U-Net</a:t>
            </a:r>
          </a:p>
        </p:txBody>
      </p:sp>
      <p:sp>
        <p:nvSpPr>
          <p:cNvPr id="3" name="Rectangle 2"/>
          <p:cNvSpPr/>
          <p:nvPr/>
        </p:nvSpPr>
        <p:spPr>
          <a:xfrm>
            <a:off x="457200" y="1005840"/>
            <a:ext cx="8229600" cy="0"/>
          </a:xfrm>
          <a:prstGeom prst="rect">
            <a:avLst/>
          </a:prstGeom>
          <a:ln w="38100">
            <a:solidFill>
              <a:srgbClr val="FF8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7863840" cy="4846320"/>
          </a:xfrm>
          <a:prstGeom prst="rect">
            <a:avLst/>
          </a:prstGeom>
          <a:noFill/>
        </p:spPr>
        <p:txBody>
          <a:bodyPr wrap="square">
            <a:spAutoFit/>
          </a:bodyPr>
          <a:lstStyle/>
          <a:p>
            <a:pPr>
              <a:spcBef>
                <a:spcPts val="1000"/>
              </a:spcBef>
              <a:spcAft>
                <a:spcPts val="600"/>
              </a:spcAft>
              <a:defRPr sz="2000">
                <a:solidFill>
                  <a:srgbClr val="FFFFFF"/>
                </a:solidFill>
              </a:defRPr>
            </a:pPr>
            <a:r>
              <a:t>• Architecture Differences:</a:t>
            </a:r>
          </a:p>
          <a:p>
            <a:pPr lvl="1">
              <a:spcBef>
                <a:spcPts val="1000"/>
              </a:spcBef>
              <a:spcAft>
                <a:spcPts val="600"/>
              </a:spcAft>
              <a:defRPr sz="1800">
                <a:solidFill>
                  <a:srgbClr val="FFFFFF"/>
                </a:solidFill>
              </a:defRPr>
            </a:pPr>
            <a:r>
              <a:t>  - Standard U-Net: Direct concatenation of skip connections</a:t>
            </a:r>
          </a:p>
          <a:p>
            <a:pPr lvl="1">
              <a:spcBef>
                <a:spcPts val="1000"/>
              </a:spcBef>
              <a:spcAft>
                <a:spcPts val="600"/>
              </a:spcAft>
              <a:defRPr sz="1800">
                <a:solidFill>
                  <a:srgbClr val="FFFFFF"/>
                </a:solidFill>
              </a:defRPr>
            </a:pPr>
            <a:r>
              <a:t>  - Attention U-Net: Attention gate → weighted features → concat</a:t>
            </a:r>
          </a:p>
          <a:p>
            <a:pPr>
              <a:spcBef>
                <a:spcPts val="1000"/>
              </a:spcBef>
              <a:spcAft>
                <a:spcPts val="600"/>
              </a:spcAft>
              <a:defRPr sz="2000">
                <a:solidFill>
                  <a:srgbClr val="FFFFFF"/>
                </a:solidFill>
              </a:defRPr>
            </a:pPr>
          </a:p>
          <a:p>
            <a:pPr>
              <a:spcBef>
                <a:spcPts val="1000"/>
              </a:spcBef>
              <a:spcAft>
                <a:spcPts val="600"/>
              </a:spcAft>
              <a:defRPr sz="2000">
                <a:solidFill>
                  <a:srgbClr val="FFFFFF"/>
                </a:solidFill>
              </a:defRPr>
            </a:pPr>
            <a:r>
              <a:t>• Performance Comparison (Pancreas CT Segmentation):</a:t>
            </a:r>
          </a:p>
          <a:p>
            <a:pPr lvl="1">
              <a:spcBef>
                <a:spcPts val="1000"/>
              </a:spcBef>
              <a:spcAft>
                <a:spcPts val="600"/>
              </a:spcAft>
              <a:defRPr sz="1800">
                <a:solidFill>
                  <a:srgbClr val="FFFFFF"/>
                </a:solidFill>
              </a:defRPr>
            </a:pPr>
            <a:r>
              <a:t>  - U-Net: Dice = 0.843, Sensitivity = 0.851</a:t>
            </a:r>
          </a:p>
          <a:p>
            <a:pPr lvl="1">
              <a:spcBef>
                <a:spcPts val="1000"/>
              </a:spcBef>
              <a:spcAft>
                <a:spcPts val="600"/>
              </a:spcAft>
              <a:defRPr sz="1800">
                <a:solidFill>
                  <a:srgbClr val="FFFFFF"/>
                </a:solidFill>
              </a:defRPr>
            </a:pPr>
            <a:r>
              <a:t>  - Attention U-Net: Dice = 0.859, Sensitivity = 0.889</a:t>
            </a:r>
          </a:p>
          <a:p>
            <a:pPr lvl="1">
              <a:spcBef>
                <a:spcPts val="1000"/>
              </a:spcBef>
              <a:spcAft>
                <a:spcPts val="600"/>
              </a:spcAft>
              <a:defRPr sz="1800">
                <a:solidFill>
                  <a:srgbClr val="FFFFFF"/>
                </a:solidFill>
              </a:defRPr>
            </a:pPr>
            <a:r>
              <a:t>  - Improvement: +1.6% Dice, +3.8% Sensitivity</a:t>
            </a:r>
          </a:p>
          <a:p>
            <a:pPr>
              <a:spcBef>
                <a:spcPts val="1000"/>
              </a:spcBef>
              <a:spcAft>
                <a:spcPts val="600"/>
              </a:spcAft>
              <a:defRPr sz="2000">
                <a:solidFill>
                  <a:srgbClr val="FFFFFF"/>
                </a:solidFill>
              </a:defRPr>
            </a:pPr>
          </a:p>
          <a:p>
            <a:pPr>
              <a:spcBef>
                <a:spcPts val="1000"/>
              </a:spcBef>
              <a:spcAft>
                <a:spcPts val="600"/>
              </a:spcAft>
              <a:defRPr sz="2000">
                <a:solidFill>
                  <a:srgbClr val="FFFFFF"/>
                </a:solidFill>
              </a:defRPr>
            </a:pPr>
            <a:r>
              <a:t>• Computational Cost:</a:t>
            </a:r>
          </a:p>
          <a:p>
            <a:pPr lvl="1">
              <a:spcBef>
                <a:spcPts val="1000"/>
              </a:spcBef>
              <a:spcAft>
                <a:spcPts val="600"/>
              </a:spcAft>
              <a:defRPr sz="1800">
                <a:solidFill>
                  <a:srgbClr val="FFFFFF"/>
                </a:solidFill>
              </a:defRPr>
            </a:pPr>
            <a:r>
              <a:t>  - Parameters: ~2-3% increase</a:t>
            </a:r>
          </a:p>
          <a:p>
            <a:pPr lvl="1">
              <a:spcBef>
                <a:spcPts val="1000"/>
              </a:spcBef>
              <a:spcAft>
                <a:spcPts val="600"/>
              </a:spcAft>
              <a:defRPr sz="1800">
                <a:solidFill>
                  <a:srgbClr val="FFFFFF"/>
                </a:solidFill>
              </a:defRPr>
            </a:pPr>
            <a:r>
              <a:t>  - Inference time: ~5% increase</a:t>
            </a:r>
          </a:p>
          <a:p>
            <a:pPr lvl="1">
              <a:spcBef>
                <a:spcPts val="1000"/>
              </a:spcBef>
              <a:spcAft>
                <a:spcPts val="600"/>
              </a:spcAft>
              <a:defRPr sz="1800">
                <a:solidFill>
                  <a:srgbClr val="FFFFFF"/>
                </a:solidFill>
              </a:defRPr>
            </a:pPr>
            <a:r>
              <a:t>  - Negligible overhead for significant performance gain</a:t>
            </a:r>
          </a:p>
          <a:p>
            <a:pPr>
              <a:spcBef>
                <a:spcPts val="1000"/>
              </a:spcBef>
              <a:spcAft>
                <a:spcPts val="600"/>
              </a:spcAft>
              <a:defRPr sz="2000">
                <a:solidFill>
                  <a:srgbClr val="FFFFFF"/>
                </a:solidFill>
              </a:defRPr>
            </a:pPr>
          </a:p>
          <a:p>
            <a:pPr>
              <a:spcBef>
                <a:spcPts val="1000"/>
              </a:spcBef>
              <a:spcAft>
                <a:spcPts val="600"/>
              </a:spcAft>
              <a:defRPr sz="2000">
                <a:solidFill>
                  <a:srgbClr val="FFFFFF"/>
                </a:solidFill>
              </a:defRPr>
            </a:pPr>
            <a:r>
              <a:t>• Interpretability: Attention maps visualize focus regions</a:t>
            </a:r>
          </a:p>
        </p:txBody>
      </p:sp>
      <p:sp>
        <p:nvSpPr>
          <p:cNvPr id="5" name="TextBox 4"/>
          <p:cNvSpPr txBox="1"/>
          <p:nvPr/>
        </p:nvSpPr>
        <p:spPr>
          <a:xfrm>
            <a:off x="8412480" y="6400800"/>
            <a:ext cx="457200" cy="274320"/>
          </a:xfrm>
          <a:prstGeom prst="rect">
            <a:avLst/>
          </a:prstGeom>
          <a:noFill/>
        </p:spPr>
        <p:txBody>
          <a:bodyPr wrap="none">
            <a:spAutoFit/>
          </a:bodyPr>
          <a:lstStyle/>
          <a:p>
            <a:pPr algn="r">
              <a:defRPr sz="1400">
                <a:solidFill>
                  <a:srgbClr val="DCDCDC"/>
                </a:solidFill>
              </a:defRPr>
            </a:pPr>
            <a:r>
              <a:t>17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93764"/>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none">
            <a:spAutoFit/>
          </a:bodyPr>
          <a:lstStyle/>
          <a:p>
            <a:pPr>
              <a:defRPr sz="4000" b="1">
                <a:solidFill>
                  <a:srgbClr val="FFFFFF"/>
                </a:solidFill>
              </a:defRPr>
            </a:pPr>
            <a:r>
              <a:t>Attention Visualization &amp; Interpretability</a:t>
            </a:r>
          </a:p>
        </p:txBody>
      </p:sp>
      <p:sp>
        <p:nvSpPr>
          <p:cNvPr id="3" name="Rectangle 2"/>
          <p:cNvSpPr/>
          <p:nvPr/>
        </p:nvSpPr>
        <p:spPr>
          <a:xfrm>
            <a:off x="457200" y="1005840"/>
            <a:ext cx="8229600" cy="0"/>
          </a:xfrm>
          <a:prstGeom prst="rect">
            <a:avLst/>
          </a:prstGeom>
          <a:ln w="38100">
            <a:solidFill>
              <a:srgbClr val="FF8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7863840" cy="4846320"/>
          </a:xfrm>
          <a:prstGeom prst="rect">
            <a:avLst/>
          </a:prstGeom>
          <a:noFill/>
        </p:spPr>
        <p:txBody>
          <a:bodyPr wrap="square">
            <a:spAutoFit/>
          </a:bodyPr>
          <a:lstStyle/>
          <a:p>
            <a:pPr>
              <a:spcBef>
                <a:spcPts val="1000"/>
              </a:spcBef>
              <a:spcAft>
                <a:spcPts val="600"/>
              </a:spcAft>
              <a:defRPr sz="2000">
                <a:solidFill>
                  <a:srgbClr val="FFFFFF"/>
                </a:solidFill>
              </a:defRPr>
            </a:pPr>
            <a:r>
              <a:t>• Attention Maps Show Network Focus:</a:t>
            </a:r>
          </a:p>
          <a:p>
            <a:pPr lvl="1">
              <a:spcBef>
                <a:spcPts val="1000"/>
              </a:spcBef>
              <a:spcAft>
                <a:spcPts val="600"/>
              </a:spcAft>
              <a:defRPr sz="1800">
                <a:solidFill>
                  <a:srgbClr val="FFFFFF"/>
                </a:solidFill>
              </a:defRPr>
            </a:pPr>
            <a:r>
              <a:t>  - Bright regions: high attention (foreground)</a:t>
            </a:r>
          </a:p>
          <a:p>
            <a:pPr lvl="1">
              <a:spcBef>
                <a:spcPts val="1000"/>
              </a:spcBef>
              <a:spcAft>
                <a:spcPts val="600"/>
              </a:spcAft>
              <a:defRPr sz="1800">
                <a:solidFill>
                  <a:srgbClr val="FFFFFF"/>
                </a:solidFill>
              </a:defRPr>
            </a:pPr>
            <a:r>
              <a:t>  - Dark regions: low attention (background)</a:t>
            </a:r>
          </a:p>
          <a:p>
            <a:pPr>
              <a:spcBef>
                <a:spcPts val="1000"/>
              </a:spcBef>
              <a:spcAft>
                <a:spcPts val="600"/>
              </a:spcAft>
              <a:defRPr sz="2000">
                <a:solidFill>
                  <a:srgbClr val="FFFFFF"/>
                </a:solidFill>
              </a:defRPr>
            </a:pPr>
          </a:p>
          <a:p>
            <a:pPr>
              <a:spcBef>
                <a:spcPts val="1000"/>
              </a:spcBef>
              <a:spcAft>
                <a:spcPts val="600"/>
              </a:spcAft>
              <a:defRPr sz="2000">
                <a:solidFill>
                  <a:srgbClr val="FFFFFF"/>
                </a:solidFill>
              </a:defRPr>
            </a:pPr>
            <a:r>
              <a:t>• Progressive Refinement Through Decoder:</a:t>
            </a:r>
          </a:p>
          <a:p>
            <a:pPr lvl="1">
              <a:spcBef>
                <a:spcPts val="1000"/>
              </a:spcBef>
              <a:spcAft>
                <a:spcPts val="600"/>
              </a:spcAft>
              <a:defRPr sz="1800">
                <a:solidFill>
                  <a:srgbClr val="FFFFFF"/>
                </a:solidFill>
              </a:defRPr>
            </a:pPr>
            <a:r>
              <a:t>  - Early layers: coarse attention on general region</a:t>
            </a:r>
          </a:p>
          <a:p>
            <a:pPr lvl="1">
              <a:spcBef>
                <a:spcPts val="1000"/>
              </a:spcBef>
              <a:spcAft>
                <a:spcPts val="600"/>
              </a:spcAft>
              <a:defRPr sz="1800">
                <a:solidFill>
                  <a:srgbClr val="FFFFFF"/>
                </a:solidFill>
              </a:defRPr>
            </a:pPr>
            <a:r>
              <a:t>  - Later layers: fine-grained attention on boundaries</a:t>
            </a:r>
          </a:p>
          <a:p>
            <a:pPr>
              <a:spcBef>
                <a:spcPts val="1000"/>
              </a:spcBef>
              <a:spcAft>
                <a:spcPts val="600"/>
              </a:spcAft>
              <a:defRPr sz="2000">
                <a:solidFill>
                  <a:srgbClr val="FFFFFF"/>
                </a:solidFill>
              </a:defRPr>
            </a:pPr>
          </a:p>
          <a:p>
            <a:pPr>
              <a:spcBef>
                <a:spcPts val="1000"/>
              </a:spcBef>
              <a:spcAft>
                <a:spcPts val="600"/>
              </a:spcAft>
              <a:defRPr sz="2000">
                <a:solidFill>
                  <a:srgbClr val="FFFFFF"/>
                </a:solidFill>
              </a:defRPr>
            </a:pPr>
            <a:r>
              <a:t>• Clinical Interpretability:</a:t>
            </a:r>
          </a:p>
          <a:p>
            <a:pPr lvl="1">
              <a:spcBef>
                <a:spcPts val="1000"/>
              </a:spcBef>
              <a:spcAft>
                <a:spcPts val="600"/>
              </a:spcAft>
              <a:defRPr sz="1800">
                <a:solidFill>
                  <a:srgbClr val="FFFFFF"/>
                </a:solidFill>
              </a:defRPr>
            </a:pPr>
            <a:r>
              <a:t>  - Helps clinicians understand AI decision-making</a:t>
            </a:r>
          </a:p>
          <a:p>
            <a:pPr lvl="1">
              <a:spcBef>
                <a:spcPts val="1000"/>
              </a:spcBef>
              <a:spcAft>
                <a:spcPts val="600"/>
              </a:spcAft>
              <a:defRPr sz="1800">
                <a:solidFill>
                  <a:srgbClr val="FFFFFF"/>
                </a:solidFill>
              </a:defRPr>
            </a:pPr>
            <a:r>
              <a:t>  - Can identify when model focuses on wrong regions</a:t>
            </a:r>
          </a:p>
          <a:p>
            <a:pPr lvl="1">
              <a:spcBef>
                <a:spcPts val="1000"/>
              </a:spcBef>
              <a:spcAft>
                <a:spcPts val="600"/>
              </a:spcAft>
              <a:defRPr sz="1800">
                <a:solidFill>
                  <a:srgbClr val="FFFFFF"/>
                </a:solidFill>
              </a:defRPr>
            </a:pPr>
            <a:r>
              <a:t>  - Builds trust in automated segmentation systems</a:t>
            </a:r>
          </a:p>
          <a:p>
            <a:pPr>
              <a:spcBef>
                <a:spcPts val="1000"/>
              </a:spcBef>
              <a:spcAft>
                <a:spcPts val="600"/>
              </a:spcAft>
              <a:defRPr sz="2000">
                <a:solidFill>
                  <a:srgbClr val="FFFFFF"/>
                </a:solidFill>
              </a:defRPr>
            </a:pPr>
          </a:p>
          <a:p>
            <a:pPr>
              <a:spcBef>
                <a:spcPts val="1000"/>
              </a:spcBef>
              <a:spcAft>
                <a:spcPts val="600"/>
              </a:spcAft>
              <a:defRPr sz="2000">
                <a:solidFill>
                  <a:srgbClr val="FFFFFF"/>
                </a:solidFill>
              </a:defRPr>
            </a:pPr>
            <a:r>
              <a:t>• Failure Mode Detection:</a:t>
            </a:r>
          </a:p>
          <a:p>
            <a:pPr lvl="1">
              <a:spcBef>
                <a:spcPts val="1000"/>
              </a:spcBef>
              <a:spcAft>
                <a:spcPts val="600"/>
              </a:spcAft>
              <a:defRPr sz="1800">
                <a:solidFill>
                  <a:srgbClr val="FFFFFF"/>
                </a:solidFill>
              </a:defRPr>
            </a:pPr>
            <a:r>
              <a:t>  - Low attention on known pathology → potential miss</a:t>
            </a:r>
          </a:p>
          <a:p>
            <a:pPr lvl="1">
              <a:spcBef>
                <a:spcPts val="1000"/>
              </a:spcBef>
              <a:spcAft>
                <a:spcPts val="600"/>
              </a:spcAft>
              <a:defRPr sz="1800">
                <a:solidFill>
                  <a:srgbClr val="FFFFFF"/>
                </a:solidFill>
              </a:defRPr>
            </a:pPr>
            <a:r>
              <a:t>  - High attention on normal tissue → false positive</a:t>
            </a:r>
          </a:p>
        </p:txBody>
      </p:sp>
      <p:sp>
        <p:nvSpPr>
          <p:cNvPr id="5" name="TextBox 4"/>
          <p:cNvSpPr txBox="1"/>
          <p:nvPr/>
        </p:nvSpPr>
        <p:spPr>
          <a:xfrm>
            <a:off x="8412480" y="6400800"/>
            <a:ext cx="457200" cy="274320"/>
          </a:xfrm>
          <a:prstGeom prst="rect">
            <a:avLst/>
          </a:prstGeom>
          <a:noFill/>
        </p:spPr>
        <p:txBody>
          <a:bodyPr wrap="none">
            <a:spAutoFit/>
          </a:bodyPr>
          <a:lstStyle/>
          <a:p>
            <a:pPr algn="r">
              <a:defRPr sz="1400">
                <a:solidFill>
                  <a:srgbClr val="DCDCDC"/>
                </a:solidFill>
              </a:defRPr>
            </a:pPr>
            <a:r>
              <a:t>18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93764"/>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none">
            <a:spAutoFit/>
          </a:bodyPr>
          <a:lstStyle/>
          <a:p>
            <a:pPr>
              <a:defRPr sz="4000" b="1">
                <a:solidFill>
                  <a:srgbClr val="FFFFFF"/>
                </a:solidFill>
              </a:defRPr>
            </a:pPr>
            <a:r>
              <a:t>Our Implementation: Dataset</a:t>
            </a:r>
          </a:p>
        </p:txBody>
      </p:sp>
      <p:sp>
        <p:nvSpPr>
          <p:cNvPr id="3" name="Rectangle 2"/>
          <p:cNvSpPr/>
          <p:nvPr/>
        </p:nvSpPr>
        <p:spPr>
          <a:xfrm>
            <a:off x="457200" y="1005840"/>
            <a:ext cx="8229600" cy="0"/>
          </a:xfrm>
          <a:prstGeom prst="rect">
            <a:avLst/>
          </a:prstGeom>
          <a:ln w="38100">
            <a:solidFill>
              <a:srgbClr val="FF8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7863840" cy="4846320"/>
          </a:xfrm>
          <a:prstGeom prst="rect">
            <a:avLst/>
          </a:prstGeom>
          <a:noFill/>
        </p:spPr>
        <p:txBody>
          <a:bodyPr wrap="square">
            <a:spAutoFit/>
          </a:bodyPr>
          <a:lstStyle/>
          <a:p>
            <a:pPr>
              <a:spcBef>
                <a:spcPts val="1000"/>
              </a:spcBef>
              <a:spcAft>
                <a:spcPts val="600"/>
              </a:spcAft>
              <a:defRPr sz="2000">
                <a:solidFill>
                  <a:srgbClr val="FFFFFF"/>
                </a:solidFill>
              </a:defRPr>
            </a:pPr>
            <a:r>
              <a:t>• Medical Segmentation Decathlon - Task 06: Lung</a:t>
            </a:r>
          </a:p>
          <a:p>
            <a:pPr lvl="1">
              <a:spcBef>
                <a:spcPts val="1000"/>
              </a:spcBef>
              <a:spcAft>
                <a:spcPts val="600"/>
              </a:spcAft>
              <a:defRPr sz="1800">
                <a:solidFill>
                  <a:srgbClr val="FFFFFF"/>
                </a:solidFill>
              </a:defRPr>
            </a:pPr>
            <a:r>
              <a:t>  - Source: http://medicaldecathlon.com/</a:t>
            </a:r>
          </a:p>
          <a:p>
            <a:pPr lvl="1">
              <a:spcBef>
                <a:spcPts val="1000"/>
              </a:spcBef>
              <a:spcAft>
                <a:spcPts val="600"/>
              </a:spcAft>
              <a:defRPr sz="1800">
                <a:solidFill>
                  <a:srgbClr val="FFFFFF"/>
                </a:solidFill>
              </a:defRPr>
            </a:pPr>
            <a:r>
              <a:t>  - Modality: CT scans</a:t>
            </a:r>
          </a:p>
          <a:p>
            <a:pPr lvl="1">
              <a:spcBef>
                <a:spcPts val="1000"/>
              </a:spcBef>
              <a:spcAft>
                <a:spcPts val="600"/>
              </a:spcAft>
              <a:defRPr sz="1800">
                <a:solidFill>
                  <a:srgbClr val="FFFFFF"/>
                </a:solidFill>
              </a:defRPr>
            </a:pPr>
            <a:r>
              <a:t>  - Target: Lung cancer segmentation</a:t>
            </a:r>
          </a:p>
          <a:p>
            <a:pPr lvl="1">
              <a:spcBef>
                <a:spcPts val="1000"/>
              </a:spcBef>
              <a:spcAft>
                <a:spcPts val="600"/>
              </a:spcAft>
              <a:defRPr sz="1800">
                <a:solidFill>
                  <a:srgbClr val="FFFFFF"/>
                </a:solidFill>
              </a:defRPr>
            </a:pPr>
            <a:r>
              <a:t>  - Format: NIfTI (.nii.gz) 3D volumes</a:t>
            </a:r>
          </a:p>
          <a:p>
            <a:pPr>
              <a:spcBef>
                <a:spcPts val="1000"/>
              </a:spcBef>
              <a:spcAft>
                <a:spcPts val="600"/>
              </a:spcAft>
              <a:defRPr sz="2000">
                <a:solidFill>
                  <a:srgbClr val="FFFFFF"/>
                </a:solidFill>
              </a:defRPr>
            </a:pPr>
          </a:p>
          <a:p>
            <a:pPr>
              <a:spcBef>
                <a:spcPts val="1000"/>
              </a:spcBef>
              <a:spcAft>
                <a:spcPts val="600"/>
              </a:spcAft>
              <a:defRPr sz="2000">
                <a:solidFill>
                  <a:srgbClr val="FFFFFF"/>
                </a:solidFill>
              </a:defRPr>
            </a:pPr>
            <a:r>
              <a:t>• Dataset Statistics:</a:t>
            </a:r>
          </a:p>
          <a:p>
            <a:pPr lvl="1">
              <a:spcBef>
                <a:spcPts val="1000"/>
              </a:spcBef>
              <a:spcAft>
                <a:spcPts val="600"/>
              </a:spcAft>
              <a:defRPr sz="1800">
                <a:solidFill>
                  <a:srgbClr val="FFFFFF"/>
                </a:solidFill>
              </a:defRPr>
            </a:pPr>
            <a:r>
              <a:t>  - Total volumes: 63 training cases</a:t>
            </a:r>
          </a:p>
          <a:p>
            <a:pPr lvl="1">
              <a:spcBef>
                <a:spcPts val="1000"/>
              </a:spcBef>
              <a:spcAft>
                <a:spcPts val="600"/>
              </a:spcAft>
              <a:defRPr sz="1800">
                <a:solidFill>
                  <a:srgbClr val="FFFFFF"/>
                </a:solidFill>
              </a:defRPr>
            </a:pPr>
            <a:r>
              <a:t>  - Image dimensions: 512×512×variable depth</a:t>
            </a:r>
          </a:p>
          <a:p>
            <a:pPr lvl="1">
              <a:spcBef>
                <a:spcPts val="1000"/>
              </a:spcBef>
              <a:spcAft>
                <a:spcPts val="600"/>
              </a:spcAft>
              <a:defRPr sz="1800">
                <a:solidFill>
                  <a:srgbClr val="FFFFFF"/>
                </a:solidFill>
              </a:defRPr>
            </a:pPr>
            <a:r>
              <a:t>  - Classes: 2 (background + lung tumor)</a:t>
            </a:r>
          </a:p>
          <a:p>
            <a:pPr>
              <a:spcBef>
                <a:spcPts val="1000"/>
              </a:spcBef>
              <a:spcAft>
                <a:spcPts val="600"/>
              </a:spcAft>
              <a:defRPr sz="2000">
                <a:solidFill>
                  <a:srgbClr val="FFFFFF"/>
                </a:solidFill>
              </a:defRPr>
            </a:pPr>
          </a:p>
          <a:p>
            <a:pPr>
              <a:spcBef>
                <a:spcPts val="1000"/>
              </a:spcBef>
              <a:spcAft>
                <a:spcPts val="600"/>
              </a:spcAft>
              <a:defRPr sz="2000">
                <a:solidFill>
                  <a:srgbClr val="FFFFFF"/>
                </a:solidFill>
              </a:defRPr>
            </a:pPr>
            <a:r>
              <a:t>• Data Split:</a:t>
            </a:r>
          </a:p>
          <a:p>
            <a:pPr lvl="1">
              <a:spcBef>
                <a:spcPts val="1000"/>
              </a:spcBef>
              <a:spcAft>
                <a:spcPts val="600"/>
              </a:spcAft>
              <a:defRPr sz="1800">
                <a:solidFill>
                  <a:srgbClr val="FFFFFF"/>
                </a:solidFill>
              </a:defRPr>
            </a:pPr>
            <a:r>
              <a:t>  - Training: 80% (~50 cases)</a:t>
            </a:r>
          </a:p>
          <a:p>
            <a:pPr lvl="1">
              <a:spcBef>
                <a:spcPts val="1000"/>
              </a:spcBef>
              <a:spcAft>
                <a:spcPts val="600"/>
              </a:spcAft>
              <a:defRPr sz="1800">
                <a:solidFill>
                  <a:srgbClr val="FFFFFF"/>
                </a:solidFill>
              </a:defRPr>
            </a:pPr>
            <a:r>
              <a:t>  - Validation: 10% (~6 cases)</a:t>
            </a:r>
          </a:p>
          <a:p>
            <a:pPr lvl="1">
              <a:spcBef>
                <a:spcPts val="1000"/>
              </a:spcBef>
              <a:spcAft>
                <a:spcPts val="600"/>
              </a:spcAft>
              <a:defRPr sz="1800">
                <a:solidFill>
                  <a:srgbClr val="FFFFFF"/>
                </a:solidFill>
              </a:defRPr>
            </a:pPr>
            <a:r>
              <a:t>  - Testing: 10% (~6 cases)</a:t>
            </a:r>
          </a:p>
        </p:txBody>
      </p:sp>
      <p:sp>
        <p:nvSpPr>
          <p:cNvPr id="5" name="TextBox 4"/>
          <p:cNvSpPr txBox="1"/>
          <p:nvPr/>
        </p:nvSpPr>
        <p:spPr>
          <a:xfrm>
            <a:off x="8412480" y="6400800"/>
            <a:ext cx="457200" cy="274320"/>
          </a:xfrm>
          <a:prstGeom prst="rect">
            <a:avLst/>
          </a:prstGeom>
          <a:noFill/>
        </p:spPr>
        <p:txBody>
          <a:bodyPr wrap="none">
            <a:spAutoFit/>
          </a:bodyPr>
          <a:lstStyle/>
          <a:p>
            <a:pPr algn="r">
              <a:defRPr sz="1400">
                <a:solidFill>
                  <a:srgbClr val="DCDCDC"/>
                </a:solidFill>
              </a:defRPr>
            </a:pPr>
            <a:r>
              <a:t>19</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93764"/>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none">
            <a:spAutoFit/>
          </a:bodyPr>
          <a:lstStyle/>
          <a:p>
            <a:pPr>
              <a:defRPr sz="4000" b="1">
                <a:solidFill>
                  <a:srgbClr val="FFFFFF"/>
                </a:solidFill>
              </a:defRPr>
            </a:pPr>
            <a:r>
              <a:t>Preprocessing Pipeline</a:t>
            </a:r>
          </a:p>
        </p:txBody>
      </p:sp>
      <p:sp>
        <p:nvSpPr>
          <p:cNvPr id="3" name="Rectangle 2"/>
          <p:cNvSpPr/>
          <p:nvPr/>
        </p:nvSpPr>
        <p:spPr>
          <a:xfrm>
            <a:off x="457200" y="1005840"/>
            <a:ext cx="8229600" cy="0"/>
          </a:xfrm>
          <a:prstGeom prst="rect">
            <a:avLst/>
          </a:prstGeom>
          <a:ln w="38100">
            <a:solidFill>
              <a:srgbClr val="FF8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7863840" cy="4846320"/>
          </a:xfrm>
          <a:prstGeom prst="rect">
            <a:avLst/>
          </a:prstGeom>
          <a:noFill/>
        </p:spPr>
        <p:txBody>
          <a:bodyPr wrap="square">
            <a:spAutoFit/>
          </a:bodyPr>
          <a:lstStyle/>
          <a:p>
            <a:pPr>
              <a:spcBef>
                <a:spcPts val="1000"/>
              </a:spcBef>
              <a:spcAft>
                <a:spcPts val="600"/>
              </a:spcAft>
              <a:defRPr sz="2000">
                <a:solidFill>
                  <a:srgbClr val="FFFFFF"/>
                </a:solidFill>
              </a:defRPr>
            </a:pPr>
            <a:r>
              <a:t>• NIfTI Volume Loading (data/dataset.py):</a:t>
            </a:r>
          </a:p>
          <a:p>
            <a:pPr lvl="1">
              <a:spcBef>
                <a:spcPts val="1000"/>
              </a:spcBef>
              <a:spcAft>
                <a:spcPts val="600"/>
              </a:spcAft>
              <a:defRPr sz="1800">
                <a:solidFill>
                  <a:srgbClr val="FFFFFF"/>
                </a:solidFill>
              </a:defRPr>
            </a:pPr>
            <a:r>
              <a:t>  - Load 3D volumes using nibabel library</a:t>
            </a:r>
          </a:p>
          <a:p>
            <a:pPr lvl="1">
              <a:spcBef>
                <a:spcPts val="1000"/>
              </a:spcBef>
              <a:spcAft>
                <a:spcPts val="600"/>
              </a:spcAft>
              <a:defRPr sz="1800">
                <a:solidFill>
                  <a:srgbClr val="FFFFFF"/>
                </a:solidFill>
              </a:defRPr>
            </a:pPr>
            <a:r>
              <a:t>  - Extract middle slice for 2D segmentation</a:t>
            </a:r>
          </a:p>
          <a:p>
            <a:pPr>
              <a:spcBef>
                <a:spcPts val="1000"/>
              </a:spcBef>
              <a:spcAft>
                <a:spcPts val="600"/>
              </a:spcAft>
              <a:defRPr sz="2000">
                <a:solidFill>
                  <a:srgbClr val="FFFFFF"/>
                </a:solidFill>
              </a:defRPr>
            </a:pPr>
          </a:p>
          <a:p>
            <a:pPr>
              <a:spcBef>
                <a:spcPts val="1000"/>
              </a:spcBef>
              <a:spcAft>
                <a:spcPts val="600"/>
              </a:spcAft>
              <a:defRPr sz="2000">
                <a:solidFill>
                  <a:srgbClr val="FFFFFF"/>
                </a:solidFill>
              </a:defRPr>
            </a:pPr>
            <a:r>
              <a:t>• Intensity Normalization:</a:t>
            </a:r>
          </a:p>
          <a:p>
            <a:pPr lvl="1">
              <a:spcBef>
                <a:spcPts val="1000"/>
              </a:spcBef>
              <a:spcAft>
                <a:spcPts val="600"/>
              </a:spcAft>
              <a:defRPr sz="1800">
                <a:solidFill>
                  <a:srgbClr val="FFFFFF"/>
                </a:solidFill>
              </a:defRPr>
            </a:pPr>
            <a:r>
              <a:t>  - Min-max normalization to [0, 1] range</a:t>
            </a:r>
          </a:p>
          <a:p>
            <a:pPr lvl="1">
              <a:spcBef>
                <a:spcPts val="1000"/>
              </a:spcBef>
              <a:spcAft>
                <a:spcPts val="600"/>
              </a:spcAft>
              <a:defRPr sz="1800">
                <a:solidFill>
                  <a:srgbClr val="FFFFFF"/>
                </a:solidFill>
              </a:defRPr>
            </a:pPr>
            <a:r>
              <a:t>  - Per-image normalization: (x - min) / (max - min + ε)</a:t>
            </a:r>
          </a:p>
          <a:p>
            <a:pPr>
              <a:spcBef>
                <a:spcPts val="1000"/>
              </a:spcBef>
              <a:spcAft>
                <a:spcPts val="600"/>
              </a:spcAft>
              <a:defRPr sz="2000">
                <a:solidFill>
                  <a:srgbClr val="FFFFFF"/>
                </a:solidFill>
              </a:defRPr>
            </a:pPr>
          </a:p>
          <a:p>
            <a:pPr>
              <a:spcBef>
                <a:spcPts val="1000"/>
              </a:spcBef>
              <a:spcAft>
                <a:spcPts val="600"/>
              </a:spcAft>
              <a:defRPr sz="2000">
                <a:solidFill>
                  <a:srgbClr val="FFFFFF"/>
                </a:solidFill>
              </a:defRPr>
            </a:pPr>
            <a:r>
              <a:t>• Data Augmentation (Training Only):</a:t>
            </a:r>
          </a:p>
          <a:p>
            <a:pPr lvl="1">
              <a:spcBef>
                <a:spcPts val="1000"/>
              </a:spcBef>
              <a:spcAft>
                <a:spcPts val="600"/>
              </a:spcAft>
              <a:defRPr sz="1800">
                <a:solidFill>
                  <a:srgbClr val="FFFFFF"/>
                </a:solidFill>
              </a:defRPr>
            </a:pPr>
            <a:r>
              <a:t>  - Horizontal flip (p=0.5)</a:t>
            </a:r>
          </a:p>
          <a:p>
            <a:pPr lvl="1">
              <a:spcBef>
                <a:spcPts val="1000"/>
              </a:spcBef>
              <a:spcAft>
                <a:spcPts val="600"/>
              </a:spcAft>
              <a:defRPr sz="1800">
                <a:solidFill>
                  <a:srgbClr val="FFFFFF"/>
                </a:solidFill>
              </a:defRPr>
            </a:pPr>
            <a:r>
              <a:t>  - Vertical flip (p=0.5)</a:t>
            </a:r>
          </a:p>
          <a:p>
            <a:pPr lvl="1">
              <a:spcBef>
                <a:spcPts val="1000"/>
              </a:spcBef>
              <a:spcAft>
                <a:spcPts val="600"/>
              </a:spcAft>
              <a:defRPr sz="1800">
                <a:solidFill>
                  <a:srgbClr val="FFFFFF"/>
                </a:solidFill>
              </a:defRPr>
            </a:pPr>
            <a:r>
              <a:t>  - Rotation (±15°, p=0.5)</a:t>
            </a:r>
          </a:p>
          <a:p>
            <a:pPr lvl="1">
              <a:spcBef>
                <a:spcPts val="1000"/>
              </a:spcBef>
              <a:spcAft>
                <a:spcPts val="600"/>
              </a:spcAft>
              <a:defRPr sz="1800">
                <a:solidFill>
                  <a:srgbClr val="FFFFFF"/>
                </a:solidFill>
              </a:defRPr>
            </a:pPr>
            <a:r>
              <a:t>  - Elastic deformation (p=0.5)</a:t>
            </a:r>
          </a:p>
          <a:p>
            <a:pPr lvl="1">
              <a:spcBef>
                <a:spcPts val="1000"/>
              </a:spcBef>
              <a:spcAft>
                <a:spcPts val="600"/>
              </a:spcAft>
              <a:defRPr sz="1800">
                <a:solidFill>
                  <a:srgbClr val="FFFFFF"/>
                </a:solidFill>
              </a:defRPr>
            </a:pPr>
            <a:r>
              <a:t>  - Random brightness/contrast (p=0.5)</a:t>
            </a:r>
          </a:p>
          <a:p>
            <a:pPr lvl="1">
              <a:spcBef>
                <a:spcPts val="1000"/>
              </a:spcBef>
              <a:spcAft>
                <a:spcPts val="600"/>
              </a:spcAft>
              <a:defRPr sz="1800">
                <a:solidFill>
                  <a:srgbClr val="FFFFFF"/>
                </a:solidFill>
              </a:defRPr>
            </a:pPr>
            <a:r>
              <a:t>  - Gaussian noise (p=0.5)</a:t>
            </a:r>
          </a:p>
          <a:p>
            <a:pPr>
              <a:spcBef>
                <a:spcPts val="1000"/>
              </a:spcBef>
              <a:spcAft>
                <a:spcPts val="600"/>
              </a:spcAft>
              <a:defRPr sz="2000">
                <a:solidFill>
                  <a:srgbClr val="FFFFFF"/>
                </a:solidFill>
              </a:defRPr>
            </a:pPr>
          </a:p>
          <a:p>
            <a:pPr>
              <a:spcBef>
                <a:spcPts val="1000"/>
              </a:spcBef>
              <a:spcAft>
                <a:spcPts val="600"/>
              </a:spcAft>
              <a:defRPr sz="2000">
                <a:solidFill>
                  <a:srgbClr val="FFFFFF"/>
                </a:solidFill>
              </a:defRPr>
            </a:pPr>
            <a:r>
              <a:t>• Tensor Conversion: NumPy → PyTorch tensors (C, H, W)</a:t>
            </a:r>
          </a:p>
        </p:txBody>
      </p:sp>
      <p:sp>
        <p:nvSpPr>
          <p:cNvPr id="5" name="TextBox 4"/>
          <p:cNvSpPr txBox="1"/>
          <p:nvPr/>
        </p:nvSpPr>
        <p:spPr>
          <a:xfrm>
            <a:off x="8412480" y="6400800"/>
            <a:ext cx="457200" cy="274320"/>
          </a:xfrm>
          <a:prstGeom prst="rect">
            <a:avLst/>
          </a:prstGeom>
          <a:noFill/>
        </p:spPr>
        <p:txBody>
          <a:bodyPr wrap="none">
            <a:spAutoFit/>
          </a:bodyPr>
          <a:lstStyle/>
          <a:p>
            <a:pPr algn="r">
              <a:defRPr sz="1400">
                <a:solidFill>
                  <a:srgbClr val="DCDCDC"/>
                </a:solidFill>
              </a:defRPr>
            </a:pPr>
            <a:r>
              <a:t>20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93764"/>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none">
            <a:spAutoFit/>
          </a:bodyPr>
          <a:lstStyle/>
          <a:p>
            <a:pPr>
              <a:defRPr sz="4000" b="1">
                <a:solidFill>
                  <a:srgbClr val="FFFFFF"/>
                </a:solidFill>
              </a:defRPr>
            </a:pPr>
            <a:r>
              <a:t>Model Architecture Details</a:t>
            </a:r>
          </a:p>
        </p:txBody>
      </p:sp>
      <p:sp>
        <p:nvSpPr>
          <p:cNvPr id="3" name="Rectangle 2"/>
          <p:cNvSpPr/>
          <p:nvPr/>
        </p:nvSpPr>
        <p:spPr>
          <a:xfrm>
            <a:off x="457200" y="1005840"/>
            <a:ext cx="8229600" cy="0"/>
          </a:xfrm>
          <a:prstGeom prst="rect">
            <a:avLst/>
          </a:prstGeom>
          <a:ln w="38100">
            <a:solidFill>
              <a:srgbClr val="FF8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7863840" cy="4846320"/>
          </a:xfrm>
          <a:prstGeom prst="rect">
            <a:avLst/>
          </a:prstGeom>
          <a:noFill/>
        </p:spPr>
        <p:txBody>
          <a:bodyPr wrap="square">
            <a:spAutoFit/>
          </a:bodyPr>
          <a:lstStyle/>
          <a:p>
            <a:pPr>
              <a:spcBef>
                <a:spcPts val="1000"/>
              </a:spcBef>
              <a:spcAft>
                <a:spcPts val="600"/>
              </a:spcAft>
              <a:defRPr sz="2000">
                <a:solidFill>
                  <a:srgbClr val="FFFFFF"/>
                </a:solidFill>
              </a:defRPr>
            </a:pPr>
            <a:r>
              <a:t>• Attention U-Net (model/unet.py):</a:t>
            </a:r>
          </a:p>
          <a:p>
            <a:pPr lvl="1">
              <a:spcBef>
                <a:spcPts val="1000"/>
              </a:spcBef>
              <a:spcAft>
                <a:spcPts val="600"/>
              </a:spcAft>
              <a:defRPr sz="1800">
                <a:solidFill>
                  <a:srgbClr val="FFFFFF"/>
                </a:solidFill>
              </a:defRPr>
            </a:pPr>
            <a:r>
              <a:t>  - Input: 1 channel (grayscale CT)</a:t>
            </a:r>
          </a:p>
          <a:p>
            <a:pPr lvl="1">
              <a:spcBef>
                <a:spcPts val="1000"/>
              </a:spcBef>
              <a:spcAft>
                <a:spcPts val="600"/>
              </a:spcAft>
              <a:defRPr sz="1800">
                <a:solidFill>
                  <a:srgbClr val="FFFFFF"/>
                </a:solidFill>
              </a:defRPr>
            </a:pPr>
            <a:r>
              <a:t>  - Output: 2 classes (background + tumor)</a:t>
            </a:r>
          </a:p>
          <a:p>
            <a:pPr lvl="1">
              <a:spcBef>
                <a:spcPts val="1000"/>
              </a:spcBef>
              <a:spcAft>
                <a:spcPts val="600"/>
              </a:spcAft>
              <a:defRPr sz="1800">
                <a:solidFill>
                  <a:srgbClr val="FFFFFF"/>
                </a:solidFill>
              </a:defRPr>
            </a:pPr>
            <a:r>
              <a:t>  - Base channels: 32</a:t>
            </a:r>
          </a:p>
          <a:p>
            <a:pPr>
              <a:spcBef>
                <a:spcPts val="1000"/>
              </a:spcBef>
              <a:spcAft>
                <a:spcPts val="600"/>
              </a:spcAft>
              <a:defRPr sz="2000">
                <a:solidFill>
                  <a:srgbClr val="FFFFFF"/>
                </a:solidFill>
              </a:defRPr>
            </a:pPr>
          </a:p>
          <a:p>
            <a:pPr>
              <a:spcBef>
                <a:spcPts val="1000"/>
              </a:spcBef>
              <a:spcAft>
                <a:spcPts val="600"/>
              </a:spcAft>
              <a:defRPr sz="2000">
                <a:solidFill>
                  <a:srgbClr val="FFFFFF"/>
                </a:solidFill>
              </a:defRPr>
            </a:pPr>
            <a:r>
              <a:t>• Encoder (Contracting Path):</a:t>
            </a:r>
          </a:p>
          <a:p>
            <a:pPr lvl="1">
              <a:spcBef>
                <a:spcPts val="1000"/>
              </a:spcBef>
              <a:spcAft>
                <a:spcPts val="600"/>
              </a:spcAft>
              <a:defRPr sz="1800">
                <a:solidFill>
                  <a:srgbClr val="FFFFFF"/>
                </a:solidFill>
              </a:defRPr>
            </a:pPr>
            <a:r>
              <a:t>  - 5 levels: 32 → 64 → 128 → 256 → 512 channels</a:t>
            </a:r>
          </a:p>
          <a:p>
            <a:pPr lvl="1">
              <a:spcBef>
                <a:spcPts val="1000"/>
              </a:spcBef>
              <a:spcAft>
                <a:spcPts val="600"/>
              </a:spcAft>
              <a:defRPr sz="1800">
                <a:solidFill>
                  <a:srgbClr val="FFFFFF"/>
                </a:solidFill>
              </a:defRPr>
            </a:pPr>
            <a:r>
              <a:t>  - Each level: 2 conv blocks with residual connections</a:t>
            </a:r>
          </a:p>
          <a:p>
            <a:pPr lvl="1">
              <a:spcBef>
                <a:spcPts val="1000"/>
              </a:spcBef>
              <a:spcAft>
                <a:spcPts val="600"/>
              </a:spcAft>
              <a:defRPr sz="1800">
                <a:solidFill>
                  <a:srgbClr val="FFFFFF"/>
                </a:solidFill>
              </a:defRPr>
            </a:pPr>
            <a:r>
              <a:t>  - MaxPool 2×2 for downsampling</a:t>
            </a:r>
          </a:p>
          <a:p>
            <a:pPr lvl="1">
              <a:spcBef>
                <a:spcPts val="1000"/>
              </a:spcBef>
              <a:spcAft>
                <a:spcPts val="600"/>
              </a:spcAft>
              <a:defRPr sz="1800">
                <a:solidFill>
                  <a:srgbClr val="FFFFFF"/>
                </a:solidFill>
              </a:defRPr>
            </a:pPr>
            <a:r>
              <a:t>  - Dropout (p=0.1) for regularization</a:t>
            </a:r>
          </a:p>
          <a:p>
            <a:pPr>
              <a:spcBef>
                <a:spcPts val="1000"/>
              </a:spcBef>
              <a:spcAft>
                <a:spcPts val="600"/>
              </a:spcAft>
              <a:defRPr sz="2000">
                <a:solidFill>
                  <a:srgbClr val="FFFFFF"/>
                </a:solidFill>
              </a:defRPr>
            </a:pPr>
          </a:p>
          <a:p>
            <a:pPr>
              <a:spcBef>
                <a:spcPts val="1000"/>
              </a:spcBef>
              <a:spcAft>
                <a:spcPts val="600"/>
              </a:spcAft>
              <a:defRPr sz="2000">
                <a:solidFill>
                  <a:srgbClr val="FFFFFF"/>
                </a:solidFill>
              </a:defRPr>
            </a:pPr>
            <a:r>
              <a:t>• Decoder (Expanding Path):</a:t>
            </a:r>
          </a:p>
          <a:p>
            <a:pPr lvl="1">
              <a:spcBef>
                <a:spcPts val="1000"/>
              </a:spcBef>
              <a:spcAft>
                <a:spcPts val="600"/>
              </a:spcAft>
              <a:defRPr sz="1800">
                <a:solidFill>
                  <a:srgbClr val="FFFFFF"/>
                </a:solidFill>
              </a:defRPr>
            </a:pPr>
            <a:r>
              <a:t>  - 4 levels: 512 → 256 → 128 → 64 → 32 channels</a:t>
            </a:r>
          </a:p>
          <a:p>
            <a:pPr lvl="1">
              <a:spcBef>
                <a:spcPts val="1000"/>
              </a:spcBef>
              <a:spcAft>
                <a:spcPts val="600"/>
              </a:spcAft>
              <a:defRPr sz="1800">
                <a:solidFill>
                  <a:srgbClr val="FFFFFF"/>
                </a:solidFill>
              </a:defRPr>
            </a:pPr>
            <a:r>
              <a:t>  - Bilinear upsampling (2×)</a:t>
            </a:r>
          </a:p>
          <a:p>
            <a:pPr lvl="1">
              <a:spcBef>
                <a:spcPts val="1000"/>
              </a:spcBef>
              <a:spcAft>
                <a:spcPts val="600"/>
              </a:spcAft>
              <a:defRPr sz="1800">
                <a:solidFill>
                  <a:srgbClr val="FFFFFF"/>
                </a:solidFill>
              </a:defRPr>
            </a:pPr>
            <a:r>
              <a:t>  - Attention gates at each level</a:t>
            </a:r>
          </a:p>
          <a:p>
            <a:pPr lvl="1">
              <a:spcBef>
                <a:spcPts val="1000"/>
              </a:spcBef>
              <a:spcAft>
                <a:spcPts val="600"/>
              </a:spcAft>
              <a:defRPr sz="1800">
                <a:solidFill>
                  <a:srgbClr val="FFFFFF"/>
                </a:solidFill>
              </a:defRPr>
            </a:pPr>
            <a:r>
              <a:t>  - Concatenation with attended encoder features</a:t>
            </a:r>
          </a:p>
          <a:p>
            <a:pPr>
              <a:spcBef>
                <a:spcPts val="1000"/>
              </a:spcBef>
              <a:spcAft>
                <a:spcPts val="600"/>
              </a:spcAft>
              <a:defRPr sz="2000">
                <a:solidFill>
                  <a:srgbClr val="FFFFFF"/>
                </a:solidFill>
              </a:defRPr>
            </a:pPr>
          </a:p>
          <a:p>
            <a:pPr>
              <a:spcBef>
                <a:spcPts val="1000"/>
              </a:spcBef>
              <a:spcAft>
                <a:spcPts val="600"/>
              </a:spcAft>
              <a:defRPr sz="2000">
                <a:solidFill>
                  <a:srgbClr val="FFFFFF"/>
                </a:solidFill>
              </a:defRPr>
            </a:pPr>
            <a:r>
              <a:t>• Output: 1×1 conv to produce 2-channel prediction</a:t>
            </a:r>
          </a:p>
        </p:txBody>
      </p:sp>
      <p:sp>
        <p:nvSpPr>
          <p:cNvPr id="5" name="TextBox 4"/>
          <p:cNvSpPr txBox="1"/>
          <p:nvPr/>
        </p:nvSpPr>
        <p:spPr>
          <a:xfrm>
            <a:off x="8412480" y="6400800"/>
            <a:ext cx="457200" cy="274320"/>
          </a:xfrm>
          <a:prstGeom prst="rect">
            <a:avLst/>
          </a:prstGeom>
          <a:noFill/>
        </p:spPr>
        <p:txBody>
          <a:bodyPr wrap="none">
            <a:spAutoFit/>
          </a:bodyPr>
          <a:lstStyle/>
          <a:p>
            <a:pPr algn="r">
              <a:defRPr sz="1400">
                <a:solidFill>
                  <a:srgbClr val="DCDCDC"/>
                </a:solidFill>
              </a:defRPr>
            </a:pPr>
            <a:r>
              <a:t>21</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93764"/>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none">
            <a:spAutoFit/>
          </a:bodyPr>
          <a:lstStyle/>
          <a:p>
            <a:pPr>
              <a:defRPr sz="4000" b="1">
                <a:solidFill>
                  <a:srgbClr val="FFFFFF"/>
                </a:solidFill>
              </a:defRPr>
            </a:pPr>
            <a:r>
              <a:t>Deep Supervision Strategy</a:t>
            </a:r>
          </a:p>
        </p:txBody>
      </p:sp>
      <p:sp>
        <p:nvSpPr>
          <p:cNvPr id="3" name="Rectangle 2"/>
          <p:cNvSpPr/>
          <p:nvPr/>
        </p:nvSpPr>
        <p:spPr>
          <a:xfrm>
            <a:off x="457200" y="1005840"/>
            <a:ext cx="8229600" cy="0"/>
          </a:xfrm>
          <a:prstGeom prst="rect">
            <a:avLst/>
          </a:prstGeom>
          <a:ln w="38100">
            <a:solidFill>
              <a:srgbClr val="FF8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7863840" cy="4846320"/>
          </a:xfrm>
          <a:prstGeom prst="rect">
            <a:avLst/>
          </a:prstGeom>
          <a:noFill/>
        </p:spPr>
        <p:txBody>
          <a:bodyPr wrap="square">
            <a:spAutoFit/>
          </a:bodyPr>
          <a:lstStyle/>
          <a:p>
            <a:pPr>
              <a:spcBef>
                <a:spcPts val="1000"/>
              </a:spcBef>
              <a:spcAft>
                <a:spcPts val="600"/>
              </a:spcAft>
              <a:defRPr sz="2000">
                <a:solidFill>
                  <a:srgbClr val="FFFFFF"/>
                </a:solidFill>
              </a:defRPr>
            </a:pPr>
            <a:r>
              <a:t>• Deep Supervision: Auxiliary losses at intermediate layers</a:t>
            </a:r>
          </a:p>
          <a:p>
            <a:pPr>
              <a:spcBef>
                <a:spcPts val="1000"/>
              </a:spcBef>
              <a:spcAft>
                <a:spcPts val="600"/>
              </a:spcAft>
              <a:defRPr sz="2000">
                <a:solidFill>
                  <a:srgbClr val="FFFFFF"/>
                </a:solidFill>
              </a:defRPr>
            </a:pPr>
          </a:p>
          <a:p>
            <a:pPr>
              <a:spcBef>
                <a:spcPts val="1000"/>
              </a:spcBef>
              <a:spcAft>
                <a:spcPts val="600"/>
              </a:spcAft>
              <a:defRPr sz="2000">
                <a:solidFill>
                  <a:srgbClr val="FFFFFF"/>
                </a:solidFill>
              </a:defRPr>
            </a:pPr>
            <a:r>
              <a:t>• Implementation (model/unet.py:151-181):</a:t>
            </a:r>
          </a:p>
          <a:p>
            <a:pPr lvl="1">
              <a:spcBef>
                <a:spcPts val="1000"/>
              </a:spcBef>
              <a:spcAft>
                <a:spcPts val="600"/>
              </a:spcAft>
              <a:defRPr sz="1800">
                <a:solidFill>
                  <a:srgbClr val="FFFFFF"/>
                </a:solidFill>
              </a:defRPr>
            </a:pPr>
            <a:r>
              <a:t>  - Main output: final decoder output (full resolution)</a:t>
            </a:r>
          </a:p>
          <a:p>
            <a:pPr lvl="1">
              <a:spcBef>
                <a:spcPts val="1000"/>
              </a:spcBef>
              <a:spcAft>
                <a:spcPts val="600"/>
              </a:spcAft>
              <a:defRPr sz="1800">
                <a:solidFill>
                  <a:srgbClr val="FFFFFF"/>
                </a:solidFill>
              </a:defRPr>
            </a:pPr>
            <a:r>
              <a:t>  - Auxiliary outputs: 3 intermediate decoder layers</a:t>
            </a:r>
          </a:p>
          <a:p>
            <a:pPr lvl="1">
              <a:spcBef>
                <a:spcPts val="1000"/>
              </a:spcBef>
              <a:spcAft>
                <a:spcPts val="600"/>
              </a:spcAft>
              <a:defRPr sz="1800">
                <a:solidFill>
                  <a:srgbClr val="FFFFFF"/>
                </a:solidFill>
              </a:defRPr>
            </a:pPr>
            <a:r>
              <a:t>  - Each has 1×1 conv to produce class predictions</a:t>
            </a:r>
          </a:p>
          <a:p>
            <a:pPr>
              <a:spcBef>
                <a:spcPts val="1000"/>
              </a:spcBef>
              <a:spcAft>
                <a:spcPts val="600"/>
              </a:spcAft>
              <a:defRPr sz="2000">
                <a:solidFill>
                  <a:srgbClr val="FFFFFF"/>
                </a:solidFill>
              </a:defRPr>
            </a:pPr>
          </a:p>
          <a:p>
            <a:pPr>
              <a:spcBef>
                <a:spcPts val="1000"/>
              </a:spcBef>
              <a:spcAft>
                <a:spcPts val="600"/>
              </a:spcAft>
              <a:defRPr sz="2000">
                <a:solidFill>
                  <a:srgbClr val="FFFFFF"/>
                </a:solidFill>
              </a:defRPr>
            </a:pPr>
            <a:r>
              <a:t>• Training Loss:</a:t>
            </a:r>
          </a:p>
          <a:p>
            <a:pPr>
              <a:spcBef>
                <a:spcPts val="1000"/>
              </a:spcBef>
              <a:spcAft>
                <a:spcPts val="600"/>
              </a:spcAft>
              <a:defRPr sz="2000">
                <a:solidFill>
                  <a:srgbClr val="FFFFFF"/>
                </a:solidFill>
              </a:defRPr>
            </a:pPr>
            <a:r>
              <a:t>  L_total = L_main + 0.25 × (L_aux1 + L_aux2 + L_aux3)</a:t>
            </a:r>
          </a:p>
          <a:p>
            <a:pPr>
              <a:spcBef>
                <a:spcPts val="1000"/>
              </a:spcBef>
              <a:spcAft>
                <a:spcPts val="600"/>
              </a:spcAft>
              <a:defRPr sz="2000">
                <a:solidFill>
                  <a:srgbClr val="FFFFFF"/>
                </a:solidFill>
              </a:defRPr>
            </a:pPr>
          </a:p>
          <a:p>
            <a:pPr>
              <a:spcBef>
                <a:spcPts val="1000"/>
              </a:spcBef>
              <a:spcAft>
                <a:spcPts val="600"/>
              </a:spcAft>
              <a:defRPr sz="2000">
                <a:solidFill>
                  <a:srgbClr val="FFFFFF"/>
                </a:solidFill>
              </a:defRPr>
            </a:pPr>
            <a:r>
              <a:t>• Benefits:</a:t>
            </a:r>
          </a:p>
          <a:p>
            <a:pPr lvl="1">
              <a:spcBef>
                <a:spcPts val="1000"/>
              </a:spcBef>
              <a:spcAft>
                <a:spcPts val="600"/>
              </a:spcAft>
              <a:defRPr sz="1800">
                <a:solidFill>
                  <a:srgbClr val="FFFFFF"/>
                </a:solidFill>
              </a:defRPr>
            </a:pPr>
            <a:r>
              <a:t>  - Improved gradient flow to deep layers</a:t>
            </a:r>
          </a:p>
          <a:p>
            <a:pPr lvl="1">
              <a:spcBef>
                <a:spcPts val="1000"/>
              </a:spcBef>
              <a:spcAft>
                <a:spcPts val="600"/>
              </a:spcAft>
              <a:defRPr sz="1800">
                <a:solidFill>
                  <a:srgbClr val="FFFFFF"/>
                </a:solidFill>
              </a:defRPr>
            </a:pPr>
            <a:r>
              <a:t>  - Regularization effect (prevents overfitting)</a:t>
            </a:r>
          </a:p>
          <a:p>
            <a:pPr lvl="1">
              <a:spcBef>
                <a:spcPts val="1000"/>
              </a:spcBef>
              <a:spcAft>
                <a:spcPts val="600"/>
              </a:spcAft>
              <a:defRPr sz="1800">
                <a:solidFill>
                  <a:srgbClr val="FFFFFF"/>
                </a:solidFill>
              </a:defRPr>
            </a:pPr>
            <a:r>
              <a:t>  - Faster convergence</a:t>
            </a:r>
          </a:p>
          <a:p>
            <a:pPr>
              <a:spcBef>
                <a:spcPts val="1000"/>
              </a:spcBef>
              <a:spcAft>
                <a:spcPts val="600"/>
              </a:spcAft>
              <a:defRPr sz="2000">
                <a:solidFill>
                  <a:srgbClr val="FFFFFF"/>
                </a:solidFill>
              </a:defRPr>
            </a:pPr>
          </a:p>
          <a:p>
            <a:pPr>
              <a:spcBef>
                <a:spcPts val="1000"/>
              </a:spcBef>
              <a:spcAft>
                <a:spcPts val="600"/>
              </a:spcAft>
              <a:defRPr sz="2000">
                <a:solidFill>
                  <a:srgbClr val="FFFFFF"/>
                </a:solidFill>
              </a:defRPr>
            </a:pPr>
            <a:r>
              <a:t>• Inference: Only main output used (deep_supervision=False)</a:t>
            </a:r>
          </a:p>
        </p:txBody>
      </p:sp>
      <p:sp>
        <p:nvSpPr>
          <p:cNvPr id="5" name="TextBox 4"/>
          <p:cNvSpPr txBox="1"/>
          <p:nvPr/>
        </p:nvSpPr>
        <p:spPr>
          <a:xfrm>
            <a:off x="8412480" y="6400800"/>
            <a:ext cx="457200" cy="274320"/>
          </a:xfrm>
          <a:prstGeom prst="rect">
            <a:avLst/>
          </a:prstGeom>
          <a:noFill/>
        </p:spPr>
        <p:txBody>
          <a:bodyPr wrap="none">
            <a:spAutoFit/>
          </a:bodyPr>
          <a:lstStyle/>
          <a:p>
            <a:pPr algn="r">
              <a:defRPr sz="1400">
                <a:solidFill>
                  <a:srgbClr val="DCDCDC"/>
                </a:solidFill>
              </a:defRPr>
            </a:pPr>
            <a:r>
              <a:t>22</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93764"/>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none">
            <a:spAutoFit/>
          </a:bodyPr>
          <a:lstStyle/>
          <a:p>
            <a:pPr>
              <a:defRPr sz="4000" b="1">
                <a:solidFill>
                  <a:srgbClr val="FFFFFF"/>
                </a:solidFill>
              </a:defRPr>
            </a:pPr>
            <a:r>
              <a:t>Training Configuration</a:t>
            </a:r>
          </a:p>
        </p:txBody>
      </p:sp>
      <p:sp>
        <p:nvSpPr>
          <p:cNvPr id="3" name="Rectangle 2"/>
          <p:cNvSpPr/>
          <p:nvPr/>
        </p:nvSpPr>
        <p:spPr>
          <a:xfrm>
            <a:off x="457200" y="1005840"/>
            <a:ext cx="8229600" cy="0"/>
          </a:xfrm>
          <a:prstGeom prst="rect">
            <a:avLst/>
          </a:prstGeom>
          <a:ln w="38100">
            <a:solidFill>
              <a:srgbClr val="FF8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7863840" cy="4846320"/>
          </a:xfrm>
          <a:prstGeom prst="rect">
            <a:avLst/>
          </a:prstGeom>
          <a:noFill/>
        </p:spPr>
        <p:txBody>
          <a:bodyPr wrap="square">
            <a:spAutoFit/>
          </a:bodyPr>
          <a:lstStyle/>
          <a:p>
            <a:pPr>
              <a:spcBef>
                <a:spcPts val="1000"/>
              </a:spcBef>
              <a:spcAft>
                <a:spcPts val="600"/>
              </a:spcAft>
              <a:defRPr sz="2000">
                <a:solidFill>
                  <a:srgbClr val="FFFFFF"/>
                </a:solidFill>
              </a:defRPr>
            </a:pPr>
            <a:r>
              <a:t>• Loss Function (train.py:15-52):</a:t>
            </a:r>
          </a:p>
          <a:p>
            <a:pPr lvl="1">
              <a:spcBef>
                <a:spcPts val="1000"/>
              </a:spcBef>
              <a:spcAft>
                <a:spcPts val="600"/>
              </a:spcAft>
              <a:defRPr sz="1800">
                <a:solidFill>
                  <a:srgbClr val="FFFFFF"/>
                </a:solidFill>
              </a:defRPr>
            </a:pPr>
            <a:r>
              <a:t>  - Combined Dice + Cross-Entropy Loss</a:t>
            </a:r>
          </a:p>
          <a:p>
            <a:pPr lvl="1">
              <a:spcBef>
                <a:spcPts val="1000"/>
              </a:spcBef>
              <a:spcAft>
                <a:spcPts val="600"/>
              </a:spcAft>
              <a:defRPr sz="1800">
                <a:solidFill>
                  <a:srgbClr val="FFFFFF"/>
                </a:solidFill>
              </a:defRPr>
            </a:pPr>
            <a:r>
              <a:t>  - Dice loss: 1 - (2|X∩Y| + ε) / (|X| + |Y| + ε)</a:t>
            </a:r>
          </a:p>
          <a:p>
            <a:pPr lvl="1">
              <a:spcBef>
                <a:spcPts val="1000"/>
              </a:spcBef>
              <a:spcAft>
                <a:spcPts val="600"/>
              </a:spcAft>
              <a:defRPr sz="1800">
                <a:solidFill>
                  <a:srgbClr val="FFFFFF"/>
                </a:solidFill>
              </a:defRPr>
            </a:pPr>
            <a:r>
              <a:t>  - CE loss: Standard cross-entropy</a:t>
            </a:r>
          </a:p>
          <a:p>
            <a:pPr lvl="1">
              <a:spcBef>
                <a:spcPts val="1000"/>
              </a:spcBef>
              <a:spcAft>
                <a:spcPts val="600"/>
              </a:spcAft>
              <a:defRPr sz="1800">
                <a:solidFill>
                  <a:srgbClr val="FFFFFF"/>
                </a:solidFill>
              </a:defRPr>
            </a:pPr>
            <a:r>
              <a:t>  - Weights: 0.5 Dice + 0.5 CE</a:t>
            </a:r>
          </a:p>
          <a:p>
            <a:pPr>
              <a:spcBef>
                <a:spcPts val="1000"/>
              </a:spcBef>
              <a:spcAft>
                <a:spcPts val="600"/>
              </a:spcAft>
              <a:defRPr sz="2000">
                <a:solidFill>
                  <a:srgbClr val="FFFFFF"/>
                </a:solidFill>
              </a:defRPr>
            </a:pPr>
          </a:p>
          <a:p>
            <a:pPr>
              <a:spcBef>
                <a:spcPts val="1000"/>
              </a:spcBef>
              <a:spcAft>
                <a:spcPts val="600"/>
              </a:spcAft>
              <a:defRPr sz="2000">
                <a:solidFill>
                  <a:srgbClr val="FFFFFF"/>
                </a:solidFill>
              </a:defRPr>
            </a:pPr>
            <a:r>
              <a:t>• Optimizer: Adam (lr=1e-3)</a:t>
            </a:r>
          </a:p>
          <a:p>
            <a:pPr>
              <a:spcBef>
                <a:spcPts val="1000"/>
              </a:spcBef>
              <a:spcAft>
                <a:spcPts val="600"/>
              </a:spcAft>
              <a:defRPr sz="2000">
                <a:solidFill>
                  <a:srgbClr val="FFFFFF"/>
                </a:solidFill>
              </a:defRPr>
            </a:pPr>
          </a:p>
          <a:p>
            <a:pPr>
              <a:spcBef>
                <a:spcPts val="1000"/>
              </a:spcBef>
              <a:spcAft>
                <a:spcPts val="600"/>
              </a:spcAft>
              <a:defRPr sz="2000">
                <a:solidFill>
                  <a:srgbClr val="FFFFFF"/>
                </a:solidFill>
              </a:defRPr>
            </a:pPr>
            <a:r>
              <a:t>• Learning Rate Scheduler: CosineAnnealingLR</a:t>
            </a:r>
          </a:p>
          <a:p>
            <a:pPr lvl="1">
              <a:spcBef>
                <a:spcPts val="1000"/>
              </a:spcBef>
              <a:spcAft>
                <a:spcPts val="600"/>
              </a:spcAft>
              <a:defRPr sz="1800">
                <a:solidFill>
                  <a:srgbClr val="FFFFFF"/>
                </a:solidFill>
              </a:defRPr>
            </a:pPr>
            <a:r>
              <a:t>  - Smooth decay from 1e-3 to 1e-6</a:t>
            </a:r>
          </a:p>
          <a:p>
            <a:pPr lvl="1">
              <a:spcBef>
                <a:spcPts val="1000"/>
              </a:spcBef>
              <a:spcAft>
                <a:spcPts val="600"/>
              </a:spcAft>
              <a:defRPr sz="1800">
                <a:solidFill>
                  <a:srgbClr val="FFFFFF"/>
                </a:solidFill>
              </a:defRPr>
            </a:pPr>
            <a:r>
              <a:t>  - T_max = num_epochs</a:t>
            </a:r>
          </a:p>
          <a:p>
            <a:pPr>
              <a:spcBef>
                <a:spcPts val="1000"/>
              </a:spcBef>
              <a:spcAft>
                <a:spcPts val="600"/>
              </a:spcAft>
              <a:defRPr sz="2000">
                <a:solidFill>
                  <a:srgbClr val="FFFFFF"/>
                </a:solidFill>
              </a:defRPr>
            </a:pPr>
          </a:p>
          <a:p>
            <a:pPr>
              <a:spcBef>
                <a:spcPts val="1000"/>
              </a:spcBef>
              <a:spcAft>
                <a:spcPts val="600"/>
              </a:spcAft>
              <a:defRPr sz="2000">
                <a:solidFill>
                  <a:srgbClr val="FFFFFF"/>
                </a:solidFill>
              </a:defRPr>
            </a:pPr>
            <a:r>
              <a:t>• Mixed Precision Training (AMP):</a:t>
            </a:r>
          </a:p>
          <a:p>
            <a:pPr lvl="1">
              <a:spcBef>
                <a:spcPts val="1000"/>
              </a:spcBef>
              <a:spcAft>
                <a:spcPts val="600"/>
              </a:spcAft>
              <a:defRPr sz="1800">
                <a:solidFill>
                  <a:srgbClr val="FFFFFF"/>
                </a:solidFill>
              </a:defRPr>
            </a:pPr>
            <a:r>
              <a:t>  - FP16 for forward/backward, FP32 for updates</a:t>
            </a:r>
          </a:p>
          <a:p>
            <a:pPr lvl="1">
              <a:spcBef>
                <a:spcPts val="1000"/>
              </a:spcBef>
              <a:spcAft>
                <a:spcPts val="600"/>
              </a:spcAft>
              <a:defRPr sz="1800">
                <a:solidFill>
                  <a:srgbClr val="FFFFFF"/>
                </a:solidFill>
              </a:defRPr>
            </a:pPr>
            <a:r>
              <a:t>  - 2× speedup with minimal accuracy loss</a:t>
            </a:r>
          </a:p>
        </p:txBody>
      </p:sp>
      <p:sp>
        <p:nvSpPr>
          <p:cNvPr id="5" name="TextBox 4"/>
          <p:cNvSpPr txBox="1"/>
          <p:nvPr/>
        </p:nvSpPr>
        <p:spPr>
          <a:xfrm>
            <a:off x="8412480" y="6400800"/>
            <a:ext cx="457200" cy="274320"/>
          </a:xfrm>
          <a:prstGeom prst="rect">
            <a:avLst/>
          </a:prstGeom>
          <a:noFill/>
        </p:spPr>
        <p:txBody>
          <a:bodyPr wrap="none">
            <a:spAutoFit/>
          </a:bodyPr>
          <a:lstStyle/>
          <a:p>
            <a:pPr algn="r">
              <a:defRPr sz="1400">
                <a:solidFill>
                  <a:srgbClr val="DCDCDC"/>
                </a:solidFill>
              </a:defRPr>
            </a:pPr>
            <a:r>
              <a:t>23</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93764"/>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none">
            <a:spAutoFit/>
          </a:bodyPr>
          <a:lstStyle/>
          <a:p>
            <a:pPr>
              <a:defRPr sz="4000" b="1">
                <a:solidFill>
                  <a:srgbClr val="FFFFFF"/>
                </a:solidFill>
              </a:defRPr>
            </a:pPr>
            <a:r>
              <a:t>Training Details &amp; Hyperparameters</a:t>
            </a:r>
          </a:p>
        </p:txBody>
      </p:sp>
      <p:sp>
        <p:nvSpPr>
          <p:cNvPr id="3" name="Rectangle 2"/>
          <p:cNvSpPr/>
          <p:nvPr/>
        </p:nvSpPr>
        <p:spPr>
          <a:xfrm>
            <a:off x="457200" y="1005840"/>
            <a:ext cx="8229600" cy="0"/>
          </a:xfrm>
          <a:prstGeom prst="rect">
            <a:avLst/>
          </a:prstGeom>
          <a:ln w="38100">
            <a:solidFill>
              <a:srgbClr val="FF8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7863840" cy="4846320"/>
          </a:xfrm>
          <a:prstGeom prst="rect">
            <a:avLst/>
          </a:prstGeom>
          <a:noFill/>
        </p:spPr>
        <p:txBody>
          <a:bodyPr wrap="square">
            <a:spAutoFit/>
          </a:bodyPr>
          <a:lstStyle/>
          <a:p>
            <a:pPr>
              <a:spcBef>
                <a:spcPts val="1000"/>
              </a:spcBef>
              <a:spcAft>
                <a:spcPts val="600"/>
              </a:spcAft>
              <a:defRPr sz="2000">
                <a:solidFill>
                  <a:srgbClr val="FFFFFF"/>
                </a:solidFill>
              </a:defRPr>
            </a:pPr>
            <a:r>
              <a:t>• Hyperparameters (config.py):</a:t>
            </a:r>
          </a:p>
          <a:p>
            <a:pPr lvl="1">
              <a:spcBef>
                <a:spcPts val="1000"/>
              </a:spcBef>
              <a:spcAft>
                <a:spcPts val="600"/>
              </a:spcAft>
              <a:defRPr sz="1800">
                <a:solidFill>
                  <a:srgbClr val="FFFFFF"/>
                </a:solidFill>
              </a:defRPr>
            </a:pPr>
            <a:r>
              <a:t>  - Batch size: 4</a:t>
            </a:r>
          </a:p>
          <a:p>
            <a:pPr lvl="1">
              <a:spcBef>
                <a:spcPts val="1000"/>
              </a:spcBef>
              <a:spcAft>
                <a:spcPts val="600"/>
              </a:spcAft>
              <a:defRPr sz="1800">
                <a:solidFill>
                  <a:srgbClr val="FFFFFF"/>
                </a:solidFill>
              </a:defRPr>
            </a:pPr>
            <a:r>
              <a:t>  - Epochs: 100</a:t>
            </a:r>
          </a:p>
          <a:p>
            <a:pPr lvl="1">
              <a:spcBef>
                <a:spcPts val="1000"/>
              </a:spcBef>
              <a:spcAft>
                <a:spcPts val="600"/>
              </a:spcAft>
              <a:defRPr sz="1800">
                <a:solidFill>
                  <a:srgbClr val="FFFFFF"/>
                </a:solidFill>
              </a:defRPr>
            </a:pPr>
            <a:r>
              <a:t>  - Early stopping patience: 15 epochs</a:t>
            </a:r>
          </a:p>
          <a:p>
            <a:pPr lvl="1">
              <a:spcBef>
                <a:spcPts val="1000"/>
              </a:spcBef>
              <a:spcAft>
                <a:spcPts val="600"/>
              </a:spcAft>
              <a:defRPr sz="1800">
                <a:solidFill>
                  <a:srgbClr val="FFFFFF"/>
                </a:solidFill>
              </a:defRPr>
            </a:pPr>
            <a:r>
              <a:t>  - Num workers: 4 (data loading)</a:t>
            </a:r>
          </a:p>
          <a:p>
            <a:pPr>
              <a:spcBef>
                <a:spcPts val="1000"/>
              </a:spcBef>
              <a:spcAft>
                <a:spcPts val="600"/>
              </a:spcAft>
              <a:defRPr sz="2000">
                <a:solidFill>
                  <a:srgbClr val="FFFFFF"/>
                </a:solidFill>
              </a:defRPr>
            </a:pPr>
          </a:p>
          <a:p>
            <a:pPr>
              <a:spcBef>
                <a:spcPts val="1000"/>
              </a:spcBef>
              <a:spcAft>
                <a:spcPts val="600"/>
              </a:spcAft>
              <a:defRPr sz="2000">
                <a:solidFill>
                  <a:srgbClr val="FFFFFF"/>
                </a:solidFill>
              </a:defRPr>
            </a:pPr>
            <a:r>
              <a:t>• Regularization:</a:t>
            </a:r>
          </a:p>
          <a:p>
            <a:pPr lvl="1">
              <a:spcBef>
                <a:spcPts val="1000"/>
              </a:spcBef>
              <a:spcAft>
                <a:spcPts val="600"/>
              </a:spcAft>
              <a:defRPr sz="1800">
                <a:solidFill>
                  <a:srgbClr val="FFFFFF"/>
                </a:solidFill>
              </a:defRPr>
            </a:pPr>
            <a:r>
              <a:t>  - Dropout: 0.1</a:t>
            </a:r>
          </a:p>
          <a:p>
            <a:pPr lvl="1">
              <a:spcBef>
                <a:spcPts val="1000"/>
              </a:spcBef>
              <a:spcAft>
                <a:spcPts val="600"/>
              </a:spcAft>
              <a:defRPr sz="1800">
                <a:solidFill>
                  <a:srgbClr val="FFFFFF"/>
                </a:solidFill>
              </a:defRPr>
            </a:pPr>
            <a:r>
              <a:t>  - Data augmentation (see preprocessing slide)</a:t>
            </a:r>
          </a:p>
          <a:p>
            <a:pPr lvl="1">
              <a:spcBef>
                <a:spcPts val="1000"/>
              </a:spcBef>
              <a:spcAft>
                <a:spcPts val="600"/>
              </a:spcAft>
              <a:defRPr sz="1800">
                <a:solidFill>
                  <a:srgbClr val="FFFFFF"/>
                </a:solidFill>
              </a:defRPr>
            </a:pPr>
            <a:r>
              <a:t>  - Deep supervision</a:t>
            </a:r>
          </a:p>
          <a:p>
            <a:pPr>
              <a:spcBef>
                <a:spcPts val="1000"/>
              </a:spcBef>
              <a:spcAft>
                <a:spcPts val="600"/>
              </a:spcAft>
              <a:defRPr sz="2000">
                <a:solidFill>
                  <a:srgbClr val="FFFFFF"/>
                </a:solidFill>
              </a:defRPr>
            </a:pPr>
          </a:p>
          <a:p>
            <a:pPr>
              <a:spcBef>
                <a:spcPts val="1000"/>
              </a:spcBef>
              <a:spcAft>
                <a:spcPts val="600"/>
              </a:spcAft>
              <a:defRPr sz="2000">
                <a:solidFill>
                  <a:srgbClr val="FFFFFF"/>
                </a:solidFill>
              </a:defRPr>
            </a:pPr>
            <a:r>
              <a:t>• Monitoring:</a:t>
            </a:r>
          </a:p>
          <a:p>
            <a:pPr lvl="1">
              <a:spcBef>
                <a:spcPts val="1000"/>
              </a:spcBef>
              <a:spcAft>
                <a:spcPts val="600"/>
              </a:spcAft>
              <a:defRPr sz="1800">
                <a:solidFill>
                  <a:srgbClr val="FFFFFF"/>
                </a:solidFill>
              </a:defRPr>
            </a:pPr>
            <a:r>
              <a:t>  - TensorBoard logging (loss, Dice, learning rate)</a:t>
            </a:r>
          </a:p>
          <a:p>
            <a:pPr lvl="1">
              <a:spcBef>
                <a:spcPts val="1000"/>
              </a:spcBef>
              <a:spcAft>
                <a:spcPts val="600"/>
              </a:spcAft>
              <a:defRPr sz="1800">
                <a:solidFill>
                  <a:srgbClr val="FFFFFF"/>
                </a:solidFill>
              </a:defRPr>
            </a:pPr>
            <a:r>
              <a:t>  - Checkpoint saving (best model + periodic)</a:t>
            </a:r>
          </a:p>
          <a:p>
            <a:pPr lvl="1">
              <a:spcBef>
                <a:spcPts val="1000"/>
              </a:spcBef>
              <a:spcAft>
                <a:spcPts val="600"/>
              </a:spcAft>
              <a:defRPr sz="1800">
                <a:solidFill>
                  <a:srgbClr val="FFFFFF"/>
                </a:solidFill>
              </a:defRPr>
            </a:pPr>
            <a:r>
              <a:t>  - Early stopping on validation Dice</a:t>
            </a:r>
          </a:p>
        </p:txBody>
      </p:sp>
      <p:sp>
        <p:nvSpPr>
          <p:cNvPr id="5" name="TextBox 4"/>
          <p:cNvSpPr txBox="1"/>
          <p:nvPr/>
        </p:nvSpPr>
        <p:spPr>
          <a:xfrm>
            <a:off x="8412480" y="6400800"/>
            <a:ext cx="457200" cy="274320"/>
          </a:xfrm>
          <a:prstGeom prst="rect">
            <a:avLst/>
          </a:prstGeom>
          <a:noFill/>
        </p:spPr>
        <p:txBody>
          <a:bodyPr wrap="none">
            <a:spAutoFit/>
          </a:bodyPr>
          <a:lstStyle/>
          <a:p>
            <a:pPr algn="r">
              <a:defRPr sz="1400">
                <a:solidFill>
                  <a:srgbClr val="DCDCDC"/>
                </a:solidFill>
              </a:defRPr>
            </a:pPr>
            <a:r>
              <a:t>24</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93764"/>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none">
            <a:spAutoFit/>
          </a:bodyPr>
          <a:lstStyle/>
          <a:p>
            <a:pPr>
              <a:defRPr sz="4000" b="1">
                <a:solidFill>
                  <a:srgbClr val="FFFFFF"/>
                </a:solidFill>
              </a:defRPr>
            </a:pPr>
            <a:r>
              <a:t>Evaluation Metrics</a:t>
            </a:r>
          </a:p>
        </p:txBody>
      </p:sp>
      <p:sp>
        <p:nvSpPr>
          <p:cNvPr id="3" name="Rectangle 2"/>
          <p:cNvSpPr/>
          <p:nvPr/>
        </p:nvSpPr>
        <p:spPr>
          <a:xfrm>
            <a:off x="457200" y="1005840"/>
            <a:ext cx="8229600" cy="0"/>
          </a:xfrm>
          <a:prstGeom prst="rect">
            <a:avLst/>
          </a:prstGeom>
          <a:ln w="38100">
            <a:solidFill>
              <a:srgbClr val="FF8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7863840" cy="4846320"/>
          </a:xfrm>
          <a:prstGeom prst="rect">
            <a:avLst/>
          </a:prstGeom>
          <a:noFill/>
        </p:spPr>
        <p:txBody>
          <a:bodyPr wrap="square">
            <a:spAutoFit/>
          </a:bodyPr>
          <a:lstStyle/>
          <a:p>
            <a:pPr>
              <a:spcBef>
                <a:spcPts val="1000"/>
              </a:spcBef>
              <a:spcAft>
                <a:spcPts val="600"/>
              </a:spcAft>
              <a:defRPr sz="2000">
                <a:solidFill>
                  <a:srgbClr val="FFFFFF"/>
                </a:solidFill>
              </a:defRPr>
            </a:pPr>
            <a:r>
              <a:t>• Dice Similarity Coefficient (DSC):</a:t>
            </a:r>
          </a:p>
          <a:p>
            <a:pPr>
              <a:spcBef>
                <a:spcPts val="1000"/>
              </a:spcBef>
              <a:spcAft>
                <a:spcPts val="600"/>
              </a:spcAft>
              <a:defRPr sz="2000">
                <a:solidFill>
                  <a:srgbClr val="FFFFFF"/>
                </a:solidFill>
              </a:defRPr>
            </a:pPr>
            <a:r>
              <a:t>  Dice = 2|X ∩ Y| / (|X| + |Y|)</a:t>
            </a:r>
          </a:p>
          <a:p>
            <a:pPr lvl="1">
              <a:spcBef>
                <a:spcPts val="1000"/>
              </a:spcBef>
              <a:spcAft>
                <a:spcPts val="600"/>
              </a:spcAft>
              <a:defRPr sz="1800">
                <a:solidFill>
                  <a:srgbClr val="FFFFFF"/>
                </a:solidFill>
              </a:defRPr>
            </a:pPr>
            <a:r>
              <a:t>  - Measures overlap between prediction and ground truth</a:t>
            </a:r>
          </a:p>
          <a:p>
            <a:pPr lvl="1">
              <a:spcBef>
                <a:spcPts val="1000"/>
              </a:spcBef>
              <a:spcAft>
                <a:spcPts val="600"/>
              </a:spcAft>
              <a:defRPr sz="1800">
                <a:solidFill>
                  <a:srgbClr val="FFFFFF"/>
                </a:solidFill>
              </a:defRPr>
            </a:pPr>
            <a:r>
              <a:t>  - Range: [0, 1], higher is better</a:t>
            </a:r>
          </a:p>
          <a:p>
            <a:pPr lvl="1">
              <a:spcBef>
                <a:spcPts val="1000"/>
              </a:spcBef>
              <a:spcAft>
                <a:spcPts val="600"/>
              </a:spcAft>
              <a:defRPr sz="1800">
                <a:solidFill>
                  <a:srgbClr val="FFFFFF"/>
                </a:solidFill>
              </a:defRPr>
            </a:pPr>
            <a:r>
              <a:t>  - Standard metric in medical image segmentation</a:t>
            </a:r>
          </a:p>
          <a:p>
            <a:pPr>
              <a:spcBef>
                <a:spcPts val="1000"/>
              </a:spcBef>
              <a:spcAft>
                <a:spcPts val="600"/>
              </a:spcAft>
              <a:defRPr sz="2000">
                <a:solidFill>
                  <a:srgbClr val="FFFFFF"/>
                </a:solidFill>
              </a:defRPr>
            </a:pPr>
          </a:p>
          <a:p>
            <a:pPr>
              <a:spcBef>
                <a:spcPts val="1000"/>
              </a:spcBef>
              <a:spcAft>
                <a:spcPts val="600"/>
              </a:spcAft>
              <a:defRPr sz="2000">
                <a:solidFill>
                  <a:srgbClr val="FFFFFF"/>
                </a:solidFill>
              </a:defRPr>
            </a:pPr>
            <a:r>
              <a:t>• Intersection over Union (IoU / Jaccard):</a:t>
            </a:r>
          </a:p>
          <a:p>
            <a:pPr>
              <a:spcBef>
                <a:spcPts val="1000"/>
              </a:spcBef>
              <a:spcAft>
                <a:spcPts val="600"/>
              </a:spcAft>
              <a:defRPr sz="2000">
                <a:solidFill>
                  <a:srgbClr val="FFFFFF"/>
                </a:solidFill>
              </a:defRPr>
            </a:pPr>
            <a:r>
              <a:t>  IoU = |X ∩ Y| / |X ∪ Y|</a:t>
            </a:r>
          </a:p>
          <a:p>
            <a:pPr lvl="1">
              <a:spcBef>
                <a:spcPts val="1000"/>
              </a:spcBef>
              <a:spcAft>
                <a:spcPts val="600"/>
              </a:spcAft>
              <a:defRPr sz="1800">
                <a:solidFill>
                  <a:srgbClr val="FFFFFF"/>
                </a:solidFill>
              </a:defRPr>
            </a:pPr>
            <a:r>
              <a:t>  - Related to Dice: Dice = 2×IoU / (1 + IoU)</a:t>
            </a:r>
          </a:p>
          <a:p>
            <a:pPr>
              <a:spcBef>
                <a:spcPts val="1000"/>
              </a:spcBef>
              <a:spcAft>
                <a:spcPts val="600"/>
              </a:spcAft>
              <a:defRPr sz="2000">
                <a:solidFill>
                  <a:srgbClr val="FFFFFF"/>
                </a:solidFill>
              </a:defRPr>
            </a:pPr>
          </a:p>
          <a:p>
            <a:pPr>
              <a:spcBef>
                <a:spcPts val="1000"/>
              </a:spcBef>
              <a:spcAft>
                <a:spcPts val="600"/>
              </a:spcAft>
              <a:defRPr sz="2000">
                <a:solidFill>
                  <a:srgbClr val="FFFFFF"/>
                </a:solidFill>
              </a:defRPr>
            </a:pPr>
            <a:r>
              <a:t>• Hausdorff Distance (HD95):</a:t>
            </a:r>
          </a:p>
          <a:p>
            <a:pPr lvl="1">
              <a:spcBef>
                <a:spcPts val="1000"/>
              </a:spcBef>
              <a:spcAft>
                <a:spcPts val="600"/>
              </a:spcAft>
              <a:defRPr sz="1800">
                <a:solidFill>
                  <a:srgbClr val="FFFFFF"/>
                </a:solidFill>
              </a:defRPr>
            </a:pPr>
            <a:r>
              <a:t>  - Maximum distance from prediction to ground truth boundary</a:t>
            </a:r>
          </a:p>
          <a:p>
            <a:pPr lvl="1">
              <a:spcBef>
                <a:spcPts val="1000"/>
              </a:spcBef>
              <a:spcAft>
                <a:spcPts val="600"/>
              </a:spcAft>
              <a:defRPr sz="1800">
                <a:solidFill>
                  <a:srgbClr val="FFFFFF"/>
                </a:solidFill>
              </a:defRPr>
            </a:pPr>
            <a:r>
              <a:t>  - Measures worst-case boundary error</a:t>
            </a:r>
          </a:p>
          <a:p>
            <a:pPr lvl="1">
              <a:spcBef>
                <a:spcPts val="1000"/>
              </a:spcBef>
              <a:spcAft>
                <a:spcPts val="600"/>
              </a:spcAft>
              <a:defRPr sz="1800">
                <a:solidFill>
                  <a:srgbClr val="FFFFFF"/>
                </a:solidFill>
              </a:defRPr>
            </a:pPr>
            <a:r>
              <a:t>  - Lower is better (measured in pixels)</a:t>
            </a:r>
          </a:p>
          <a:p>
            <a:pPr>
              <a:spcBef>
                <a:spcPts val="1000"/>
              </a:spcBef>
              <a:spcAft>
                <a:spcPts val="600"/>
              </a:spcAft>
              <a:defRPr sz="2000">
                <a:solidFill>
                  <a:srgbClr val="FFFFFF"/>
                </a:solidFill>
              </a:defRPr>
            </a:pPr>
          </a:p>
          <a:p>
            <a:pPr>
              <a:spcBef>
                <a:spcPts val="1000"/>
              </a:spcBef>
              <a:spcAft>
                <a:spcPts val="600"/>
              </a:spcAft>
              <a:defRPr sz="2000">
                <a:solidFill>
                  <a:srgbClr val="FFFFFF"/>
                </a:solidFill>
              </a:defRPr>
            </a:pPr>
            <a:r>
              <a:t>• Implementation: evaluate.py</a:t>
            </a:r>
          </a:p>
        </p:txBody>
      </p:sp>
      <p:sp>
        <p:nvSpPr>
          <p:cNvPr id="5" name="TextBox 4"/>
          <p:cNvSpPr txBox="1"/>
          <p:nvPr/>
        </p:nvSpPr>
        <p:spPr>
          <a:xfrm>
            <a:off x="8412480" y="6400800"/>
            <a:ext cx="457200" cy="274320"/>
          </a:xfrm>
          <a:prstGeom prst="rect">
            <a:avLst/>
          </a:prstGeom>
          <a:noFill/>
        </p:spPr>
        <p:txBody>
          <a:bodyPr wrap="none">
            <a:spAutoFit/>
          </a:bodyPr>
          <a:lstStyle/>
          <a:p>
            <a:pPr algn="r">
              <a:defRPr sz="1400">
                <a:solidFill>
                  <a:srgbClr val="DCDCDC"/>
                </a:solidFill>
              </a:defRPr>
            </a:pPr>
            <a:r>
              <a:t>25</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93764"/>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none">
            <a:spAutoFit/>
          </a:bodyPr>
          <a:lstStyle/>
          <a:p>
            <a:pPr>
              <a:defRPr sz="4000" b="1">
                <a:solidFill>
                  <a:srgbClr val="FFFFFF"/>
                </a:solidFill>
              </a:defRPr>
            </a:pPr>
            <a:r>
              <a:t>[PLACEHOLDER] Training Curves</a:t>
            </a:r>
          </a:p>
        </p:txBody>
      </p:sp>
      <p:sp>
        <p:nvSpPr>
          <p:cNvPr id="3" name="Rectangle 2"/>
          <p:cNvSpPr/>
          <p:nvPr/>
        </p:nvSpPr>
        <p:spPr>
          <a:xfrm>
            <a:off x="457200" y="1005840"/>
            <a:ext cx="8229600" cy="0"/>
          </a:xfrm>
          <a:prstGeom prst="rect">
            <a:avLst/>
          </a:prstGeom>
          <a:ln w="38100">
            <a:solidFill>
              <a:srgbClr val="FF8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7863840" cy="4846320"/>
          </a:xfrm>
          <a:prstGeom prst="rect">
            <a:avLst/>
          </a:prstGeom>
          <a:noFill/>
        </p:spPr>
        <p:txBody>
          <a:bodyPr wrap="square">
            <a:spAutoFit/>
          </a:bodyPr>
          <a:lstStyle/>
          <a:p>
            <a:pPr>
              <a:spcBef>
                <a:spcPts val="1000"/>
              </a:spcBef>
              <a:spcAft>
                <a:spcPts val="600"/>
              </a:spcAft>
              <a:defRPr sz="2000">
                <a:solidFill>
                  <a:srgbClr val="FFFFFF"/>
                </a:solidFill>
              </a:defRPr>
            </a:pPr>
            <a:r>
              <a:t>[INSERT RESULTS AFTER TRAINING]</a:t>
            </a:r>
          </a:p>
          <a:p>
            <a:pPr>
              <a:spcBef>
                <a:spcPts val="1000"/>
              </a:spcBef>
              <a:spcAft>
                <a:spcPts val="600"/>
              </a:spcAft>
              <a:defRPr sz="2000">
                <a:solidFill>
                  <a:srgbClr val="FFFFFF"/>
                </a:solidFill>
              </a:defRPr>
            </a:pPr>
          </a:p>
          <a:p>
            <a:pPr>
              <a:spcBef>
                <a:spcPts val="1000"/>
              </a:spcBef>
              <a:spcAft>
                <a:spcPts val="600"/>
              </a:spcAft>
              <a:defRPr sz="2000">
                <a:solidFill>
                  <a:srgbClr val="FFFFFF"/>
                </a:solidFill>
              </a:defRPr>
            </a:pPr>
            <a:r>
              <a:t>• Training &amp; Validation Loss over Epochs</a:t>
            </a:r>
          </a:p>
          <a:p>
            <a:pPr lvl="1">
              <a:spcBef>
                <a:spcPts val="1000"/>
              </a:spcBef>
              <a:spcAft>
                <a:spcPts val="600"/>
              </a:spcAft>
              <a:defRPr sz="1800">
                <a:solidFill>
                  <a:srgbClr val="FFFFFF"/>
                </a:solidFill>
              </a:defRPr>
            </a:pPr>
            <a:r>
              <a:t>  - Plot showing decreasing loss curves</a:t>
            </a:r>
          </a:p>
          <a:p>
            <a:pPr lvl="1">
              <a:spcBef>
                <a:spcPts val="1000"/>
              </a:spcBef>
              <a:spcAft>
                <a:spcPts val="600"/>
              </a:spcAft>
              <a:defRPr sz="1800">
                <a:solidFill>
                  <a:srgbClr val="FFFFFF"/>
                </a:solidFill>
              </a:defRPr>
            </a:pPr>
            <a:r>
              <a:t>  - Convergence behavior</a:t>
            </a:r>
          </a:p>
          <a:p>
            <a:pPr lvl="1">
              <a:spcBef>
                <a:spcPts val="1000"/>
              </a:spcBef>
              <a:spcAft>
                <a:spcPts val="600"/>
              </a:spcAft>
              <a:defRPr sz="1800">
                <a:solidFill>
                  <a:srgbClr val="FFFFFF"/>
                </a:solidFill>
              </a:defRPr>
            </a:pPr>
            <a:r>
              <a:t>  - Overfitting detection</a:t>
            </a:r>
          </a:p>
          <a:p>
            <a:pPr>
              <a:spcBef>
                <a:spcPts val="1000"/>
              </a:spcBef>
              <a:spcAft>
                <a:spcPts val="600"/>
              </a:spcAft>
              <a:defRPr sz="2000">
                <a:solidFill>
                  <a:srgbClr val="FFFFFF"/>
                </a:solidFill>
              </a:defRPr>
            </a:pPr>
          </a:p>
          <a:p>
            <a:pPr>
              <a:spcBef>
                <a:spcPts val="1000"/>
              </a:spcBef>
              <a:spcAft>
                <a:spcPts val="600"/>
              </a:spcAft>
              <a:defRPr sz="2000">
                <a:solidFill>
                  <a:srgbClr val="FFFFFF"/>
                </a:solidFill>
              </a:defRPr>
            </a:pPr>
            <a:r>
              <a:t>• Dice Score over Epochs</a:t>
            </a:r>
          </a:p>
          <a:p>
            <a:pPr lvl="1">
              <a:spcBef>
                <a:spcPts val="1000"/>
              </a:spcBef>
              <a:spcAft>
                <a:spcPts val="600"/>
              </a:spcAft>
              <a:defRPr sz="1800">
                <a:solidFill>
                  <a:srgbClr val="FFFFFF"/>
                </a:solidFill>
              </a:defRPr>
            </a:pPr>
            <a:r>
              <a:t>  - Training and validation Dice progression</a:t>
            </a:r>
          </a:p>
          <a:p>
            <a:pPr lvl="1">
              <a:spcBef>
                <a:spcPts val="1000"/>
              </a:spcBef>
              <a:spcAft>
                <a:spcPts val="600"/>
              </a:spcAft>
              <a:defRPr sz="1800">
                <a:solidFill>
                  <a:srgbClr val="FFFFFF"/>
                </a:solidFill>
              </a:defRPr>
            </a:pPr>
            <a:r>
              <a:t>  - Best validation Dice achieved</a:t>
            </a:r>
          </a:p>
          <a:p>
            <a:pPr lvl="1">
              <a:spcBef>
                <a:spcPts val="1000"/>
              </a:spcBef>
              <a:spcAft>
                <a:spcPts val="600"/>
              </a:spcAft>
              <a:defRPr sz="1800">
                <a:solidFill>
                  <a:srgbClr val="FFFFFF"/>
                </a:solidFill>
              </a:defRPr>
            </a:pPr>
            <a:r>
              <a:t>  - Epoch where early stopping triggered</a:t>
            </a:r>
          </a:p>
          <a:p>
            <a:pPr>
              <a:spcBef>
                <a:spcPts val="1000"/>
              </a:spcBef>
              <a:spcAft>
                <a:spcPts val="600"/>
              </a:spcAft>
              <a:defRPr sz="2000">
                <a:solidFill>
                  <a:srgbClr val="FFFFFF"/>
                </a:solidFill>
              </a:defRPr>
            </a:pPr>
          </a:p>
          <a:p>
            <a:pPr>
              <a:spcBef>
                <a:spcPts val="1000"/>
              </a:spcBef>
              <a:spcAft>
                <a:spcPts val="600"/>
              </a:spcAft>
              <a:defRPr sz="2000">
                <a:solidFill>
                  <a:srgbClr val="FFFFFF"/>
                </a:solidFill>
              </a:defRPr>
            </a:pPr>
            <a:r>
              <a:t>• Learning Rate Schedule</a:t>
            </a:r>
          </a:p>
          <a:p>
            <a:pPr lvl="1">
              <a:spcBef>
                <a:spcPts val="1000"/>
              </a:spcBef>
              <a:spcAft>
                <a:spcPts val="600"/>
              </a:spcAft>
              <a:defRPr sz="1800">
                <a:solidFill>
                  <a:srgbClr val="FFFFFF"/>
                </a:solidFill>
              </a:defRPr>
            </a:pPr>
            <a:r>
              <a:t>  - CosineAnnealing decay visualization</a:t>
            </a:r>
          </a:p>
        </p:txBody>
      </p:sp>
      <p:sp>
        <p:nvSpPr>
          <p:cNvPr id="5" name="TextBox 4"/>
          <p:cNvSpPr txBox="1"/>
          <p:nvPr/>
        </p:nvSpPr>
        <p:spPr>
          <a:xfrm>
            <a:off x="8412480" y="6400800"/>
            <a:ext cx="457200" cy="274320"/>
          </a:xfrm>
          <a:prstGeom prst="rect">
            <a:avLst/>
          </a:prstGeom>
          <a:noFill/>
        </p:spPr>
        <p:txBody>
          <a:bodyPr wrap="none">
            <a:spAutoFit/>
          </a:bodyPr>
          <a:lstStyle/>
          <a:p>
            <a:pPr algn="r">
              <a:defRPr sz="1400">
                <a:solidFill>
                  <a:srgbClr val="DCDCDC"/>
                </a:solidFill>
              </a:defRPr>
            </a:pPr>
            <a:r>
              <a:t>26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93764"/>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none">
            <a:spAutoFit/>
          </a:bodyPr>
          <a:lstStyle/>
          <a:p>
            <a:pPr>
              <a:defRPr sz="4000" b="1">
                <a:solidFill>
                  <a:srgbClr val="FFFFFF"/>
                </a:solidFill>
              </a:defRPr>
            </a:pPr>
            <a:r>
              <a:t>[PLACEHOLDER] Qualitative Results</a:t>
            </a:r>
          </a:p>
        </p:txBody>
      </p:sp>
      <p:sp>
        <p:nvSpPr>
          <p:cNvPr id="3" name="Rectangle 2"/>
          <p:cNvSpPr/>
          <p:nvPr/>
        </p:nvSpPr>
        <p:spPr>
          <a:xfrm>
            <a:off x="457200" y="1005840"/>
            <a:ext cx="8229600" cy="0"/>
          </a:xfrm>
          <a:prstGeom prst="rect">
            <a:avLst/>
          </a:prstGeom>
          <a:ln w="38100">
            <a:solidFill>
              <a:srgbClr val="FF8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7863840" cy="4846320"/>
          </a:xfrm>
          <a:prstGeom prst="rect">
            <a:avLst/>
          </a:prstGeom>
          <a:noFill/>
        </p:spPr>
        <p:txBody>
          <a:bodyPr wrap="square">
            <a:spAutoFit/>
          </a:bodyPr>
          <a:lstStyle/>
          <a:p>
            <a:pPr>
              <a:spcBef>
                <a:spcPts val="1000"/>
              </a:spcBef>
              <a:spcAft>
                <a:spcPts val="600"/>
              </a:spcAft>
              <a:defRPr sz="2000">
                <a:solidFill>
                  <a:srgbClr val="FFFFFF"/>
                </a:solidFill>
              </a:defRPr>
            </a:pPr>
            <a:r>
              <a:t>[INSERT RESULTS AFTER TRAINING]</a:t>
            </a:r>
          </a:p>
          <a:p>
            <a:pPr>
              <a:spcBef>
                <a:spcPts val="1000"/>
              </a:spcBef>
              <a:spcAft>
                <a:spcPts val="600"/>
              </a:spcAft>
              <a:defRPr sz="2000">
                <a:solidFill>
                  <a:srgbClr val="FFFFFF"/>
                </a:solidFill>
              </a:defRPr>
            </a:pPr>
          </a:p>
          <a:p>
            <a:pPr>
              <a:spcBef>
                <a:spcPts val="1000"/>
              </a:spcBef>
              <a:spcAft>
                <a:spcPts val="600"/>
              </a:spcAft>
              <a:defRPr sz="2000">
                <a:solidFill>
                  <a:srgbClr val="FFFFFF"/>
                </a:solidFill>
              </a:defRPr>
            </a:pPr>
            <a:r>
              <a:t>• Visualization Grid: Input | Ground Truth | Prediction</a:t>
            </a:r>
          </a:p>
          <a:p>
            <a:pPr>
              <a:spcBef>
                <a:spcPts val="1000"/>
              </a:spcBef>
              <a:spcAft>
                <a:spcPts val="600"/>
              </a:spcAft>
              <a:defRPr sz="2000">
                <a:solidFill>
                  <a:srgbClr val="FFFFFF"/>
                </a:solidFill>
              </a:defRPr>
            </a:pPr>
          </a:p>
          <a:p>
            <a:pPr>
              <a:spcBef>
                <a:spcPts val="1000"/>
              </a:spcBef>
              <a:spcAft>
                <a:spcPts val="600"/>
              </a:spcAft>
              <a:defRPr sz="2000">
                <a:solidFill>
                  <a:srgbClr val="FFFFFF"/>
                </a:solidFill>
              </a:defRPr>
            </a:pPr>
            <a:r>
              <a:t>• Best Cases:</a:t>
            </a:r>
          </a:p>
          <a:p>
            <a:pPr lvl="1">
              <a:spcBef>
                <a:spcPts val="1000"/>
              </a:spcBef>
              <a:spcAft>
                <a:spcPts val="600"/>
              </a:spcAft>
              <a:defRPr sz="1800">
                <a:solidFill>
                  <a:srgbClr val="FFFFFF"/>
                </a:solidFill>
              </a:defRPr>
            </a:pPr>
            <a:r>
              <a:t>  - Examples where model achieves high Dice (&gt;0.9)</a:t>
            </a:r>
          </a:p>
          <a:p>
            <a:pPr lvl="1">
              <a:spcBef>
                <a:spcPts val="1000"/>
              </a:spcBef>
              <a:spcAft>
                <a:spcPts val="600"/>
              </a:spcAft>
              <a:defRPr sz="1800">
                <a:solidFill>
                  <a:srgbClr val="FFFFFF"/>
                </a:solidFill>
              </a:defRPr>
            </a:pPr>
            <a:r>
              <a:t>  - Clean tumor boundaries</a:t>
            </a:r>
          </a:p>
          <a:p>
            <a:pPr lvl="1">
              <a:spcBef>
                <a:spcPts val="1000"/>
              </a:spcBef>
              <a:spcAft>
                <a:spcPts val="600"/>
              </a:spcAft>
              <a:defRPr sz="1800">
                <a:solidFill>
                  <a:srgbClr val="FFFFFF"/>
                </a:solidFill>
              </a:defRPr>
            </a:pPr>
            <a:r>
              <a:t>  - Correct size and shape</a:t>
            </a:r>
          </a:p>
          <a:p>
            <a:pPr>
              <a:spcBef>
                <a:spcPts val="1000"/>
              </a:spcBef>
              <a:spcAft>
                <a:spcPts val="600"/>
              </a:spcAft>
              <a:defRPr sz="2000">
                <a:solidFill>
                  <a:srgbClr val="FFFFFF"/>
                </a:solidFill>
              </a:defRPr>
            </a:pPr>
          </a:p>
          <a:p>
            <a:pPr>
              <a:spcBef>
                <a:spcPts val="1000"/>
              </a:spcBef>
              <a:spcAft>
                <a:spcPts val="600"/>
              </a:spcAft>
              <a:defRPr sz="2000">
                <a:solidFill>
                  <a:srgbClr val="FFFFFF"/>
                </a:solidFill>
              </a:defRPr>
            </a:pPr>
            <a:r>
              <a:t>• Average Cases:</a:t>
            </a:r>
          </a:p>
          <a:p>
            <a:pPr lvl="1">
              <a:spcBef>
                <a:spcPts val="1000"/>
              </a:spcBef>
              <a:spcAft>
                <a:spcPts val="600"/>
              </a:spcAft>
              <a:defRPr sz="1800">
                <a:solidFill>
                  <a:srgbClr val="FFFFFF"/>
                </a:solidFill>
              </a:defRPr>
            </a:pPr>
            <a:r>
              <a:t>  - Typical performance (Dice 0.7-0.9)</a:t>
            </a:r>
          </a:p>
          <a:p>
            <a:pPr lvl="1">
              <a:spcBef>
                <a:spcPts val="1000"/>
              </a:spcBef>
              <a:spcAft>
                <a:spcPts val="600"/>
              </a:spcAft>
              <a:defRPr sz="1800">
                <a:solidFill>
                  <a:srgbClr val="FFFFFF"/>
                </a:solidFill>
              </a:defRPr>
            </a:pPr>
            <a:r>
              <a:t>  - Minor boundary errors</a:t>
            </a:r>
          </a:p>
          <a:p>
            <a:pPr>
              <a:spcBef>
                <a:spcPts val="1000"/>
              </a:spcBef>
              <a:spcAft>
                <a:spcPts val="600"/>
              </a:spcAft>
              <a:defRPr sz="2000">
                <a:solidFill>
                  <a:srgbClr val="FFFFFF"/>
                </a:solidFill>
              </a:defRPr>
            </a:pPr>
          </a:p>
          <a:p>
            <a:pPr>
              <a:spcBef>
                <a:spcPts val="1000"/>
              </a:spcBef>
              <a:spcAft>
                <a:spcPts val="600"/>
              </a:spcAft>
              <a:defRPr sz="2000">
                <a:solidFill>
                  <a:srgbClr val="FFFFFF"/>
                </a:solidFill>
              </a:defRPr>
            </a:pPr>
            <a:r>
              <a:t>• Challenging Cases:</a:t>
            </a:r>
          </a:p>
          <a:p>
            <a:pPr lvl="1">
              <a:spcBef>
                <a:spcPts val="1000"/>
              </a:spcBef>
              <a:spcAft>
                <a:spcPts val="600"/>
              </a:spcAft>
              <a:defRPr sz="1800">
                <a:solidFill>
                  <a:srgbClr val="FFFFFF"/>
                </a:solidFill>
              </a:defRPr>
            </a:pPr>
            <a:r>
              <a:t>  - Small tumors (high difficulty)</a:t>
            </a:r>
          </a:p>
          <a:p>
            <a:pPr lvl="1">
              <a:spcBef>
                <a:spcPts val="1000"/>
              </a:spcBef>
              <a:spcAft>
                <a:spcPts val="600"/>
              </a:spcAft>
              <a:defRPr sz="1800">
                <a:solidFill>
                  <a:srgbClr val="FFFFFF"/>
                </a:solidFill>
              </a:defRPr>
            </a:pPr>
            <a:r>
              <a:t>  - Low contrast regions</a:t>
            </a:r>
          </a:p>
          <a:p>
            <a:pPr lvl="1">
              <a:spcBef>
                <a:spcPts val="1000"/>
              </a:spcBef>
              <a:spcAft>
                <a:spcPts val="600"/>
              </a:spcAft>
              <a:defRPr sz="1800">
                <a:solidFill>
                  <a:srgbClr val="FFFFFF"/>
                </a:solidFill>
              </a:defRPr>
            </a:pPr>
            <a:r>
              <a:t>  - Noisy images</a:t>
            </a:r>
          </a:p>
        </p:txBody>
      </p:sp>
      <p:sp>
        <p:nvSpPr>
          <p:cNvPr id="5" name="TextBox 4"/>
          <p:cNvSpPr txBox="1"/>
          <p:nvPr/>
        </p:nvSpPr>
        <p:spPr>
          <a:xfrm>
            <a:off x="8412480" y="6400800"/>
            <a:ext cx="457200" cy="274320"/>
          </a:xfrm>
          <a:prstGeom prst="rect">
            <a:avLst/>
          </a:prstGeom>
          <a:noFill/>
        </p:spPr>
        <p:txBody>
          <a:bodyPr wrap="none">
            <a:spAutoFit/>
          </a:bodyPr>
          <a:lstStyle/>
          <a:p>
            <a:pPr algn="r">
              <a:defRPr sz="1400">
                <a:solidFill>
                  <a:srgbClr val="DCDCDC"/>
                </a:solidFill>
              </a:defRPr>
            </a:pPr>
            <a:r>
              <a:t>27</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93764"/>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none">
            <a:spAutoFit/>
          </a:bodyPr>
          <a:lstStyle/>
          <a:p>
            <a:pPr>
              <a:defRPr sz="4000" b="1">
                <a:solidFill>
                  <a:srgbClr val="FFFFFF"/>
                </a:solidFill>
              </a:defRPr>
            </a:pPr>
            <a:r>
              <a:t>[PLACEHOLDER] Quantitative Results</a:t>
            </a:r>
          </a:p>
        </p:txBody>
      </p:sp>
      <p:sp>
        <p:nvSpPr>
          <p:cNvPr id="3" name="Rectangle 2"/>
          <p:cNvSpPr/>
          <p:nvPr/>
        </p:nvSpPr>
        <p:spPr>
          <a:xfrm>
            <a:off x="457200" y="1005840"/>
            <a:ext cx="8229600" cy="0"/>
          </a:xfrm>
          <a:prstGeom prst="rect">
            <a:avLst/>
          </a:prstGeom>
          <a:ln w="38100">
            <a:solidFill>
              <a:srgbClr val="FF8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7863840" cy="4846320"/>
          </a:xfrm>
          <a:prstGeom prst="rect">
            <a:avLst/>
          </a:prstGeom>
          <a:noFill/>
        </p:spPr>
        <p:txBody>
          <a:bodyPr wrap="square">
            <a:spAutoFit/>
          </a:bodyPr>
          <a:lstStyle/>
          <a:p>
            <a:pPr>
              <a:spcBef>
                <a:spcPts val="1000"/>
              </a:spcBef>
              <a:spcAft>
                <a:spcPts val="600"/>
              </a:spcAft>
              <a:defRPr sz="2000">
                <a:solidFill>
                  <a:srgbClr val="FFFFFF"/>
                </a:solidFill>
              </a:defRPr>
            </a:pPr>
            <a:r>
              <a:t>[INSERT RESULTS AFTER TRAINING]</a:t>
            </a:r>
          </a:p>
          <a:p>
            <a:pPr>
              <a:spcBef>
                <a:spcPts val="1000"/>
              </a:spcBef>
              <a:spcAft>
                <a:spcPts val="600"/>
              </a:spcAft>
              <a:defRPr sz="2000">
                <a:solidFill>
                  <a:srgbClr val="FFFFFF"/>
                </a:solidFill>
              </a:defRPr>
            </a:pPr>
          </a:p>
          <a:p>
            <a:pPr>
              <a:spcBef>
                <a:spcPts val="1000"/>
              </a:spcBef>
              <a:spcAft>
                <a:spcPts val="600"/>
              </a:spcAft>
              <a:defRPr sz="2000">
                <a:solidFill>
                  <a:srgbClr val="FFFFFF"/>
                </a:solidFill>
              </a:defRPr>
            </a:pPr>
            <a:r>
              <a:t>• Test Set Performance:</a:t>
            </a:r>
          </a:p>
          <a:p>
            <a:pPr>
              <a:spcBef>
                <a:spcPts val="1000"/>
              </a:spcBef>
              <a:spcAft>
                <a:spcPts val="600"/>
              </a:spcAft>
              <a:defRPr sz="2000">
                <a:solidFill>
                  <a:srgbClr val="FFFFFF"/>
                </a:solidFill>
              </a:defRPr>
            </a:pPr>
          </a:p>
          <a:p>
            <a:pPr>
              <a:spcBef>
                <a:spcPts val="1000"/>
              </a:spcBef>
              <a:spcAft>
                <a:spcPts val="600"/>
              </a:spcAft>
              <a:defRPr sz="2000">
                <a:solidFill>
                  <a:srgbClr val="FFFFFF"/>
                </a:solidFill>
              </a:defRPr>
            </a:pPr>
            <a:r>
              <a:t>  Metric                  | Mean ± Std</a:t>
            </a:r>
          </a:p>
          <a:p>
            <a:pPr>
              <a:spcBef>
                <a:spcPts val="1000"/>
              </a:spcBef>
              <a:spcAft>
                <a:spcPts val="600"/>
              </a:spcAft>
              <a:defRPr sz="2000">
                <a:solidFill>
                  <a:srgbClr val="FFFFFF"/>
                </a:solidFill>
              </a:defRPr>
            </a:pPr>
            <a:r>
              <a:t>  ----------------------- | -----------</a:t>
            </a:r>
          </a:p>
          <a:p>
            <a:pPr>
              <a:spcBef>
                <a:spcPts val="1000"/>
              </a:spcBef>
              <a:spcAft>
                <a:spcPts val="600"/>
              </a:spcAft>
              <a:defRPr sz="2000">
                <a:solidFill>
                  <a:srgbClr val="FFFFFF"/>
                </a:solidFill>
              </a:defRPr>
            </a:pPr>
            <a:r>
              <a:t>  Dice Score              | [TBD] ± [TBD]</a:t>
            </a:r>
          </a:p>
          <a:p>
            <a:pPr>
              <a:spcBef>
                <a:spcPts val="1000"/>
              </a:spcBef>
              <a:spcAft>
                <a:spcPts val="600"/>
              </a:spcAft>
              <a:defRPr sz="2000">
                <a:solidFill>
                  <a:srgbClr val="FFFFFF"/>
                </a:solidFill>
              </a:defRPr>
            </a:pPr>
            <a:r>
              <a:t>  IoU Score               | [TBD] ± [TBD]</a:t>
            </a:r>
          </a:p>
          <a:p>
            <a:pPr>
              <a:spcBef>
                <a:spcPts val="1000"/>
              </a:spcBef>
              <a:spcAft>
                <a:spcPts val="600"/>
              </a:spcAft>
              <a:defRPr sz="2000">
                <a:solidFill>
                  <a:srgbClr val="FFFFFF"/>
                </a:solidFill>
              </a:defRPr>
            </a:pPr>
            <a:r>
              <a:t>  Hausdorff Distance (mm) | [TBD] ± [TBD]</a:t>
            </a:r>
          </a:p>
          <a:p>
            <a:pPr>
              <a:spcBef>
                <a:spcPts val="1000"/>
              </a:spcBef>
              <a:spcAft>
                <a:spcPts val="600"/>
              </a:spcAft>
              <a:defRPr sz="2000">
                <a:solidFill>
                  <a:srgbClr val="FFFFFF"/>
                </a:solidFill>
              </a:defRPr>
            </a:pPr>
          </a:p>
          <a:p>
            <a:pPr>
              <a:spcBef>
                <a:spcPts val="1000"/>
              </a:spcBef>
              <a:spcAft>
                <a:spcPts val="600"/>
              </a:spcAft>
              <a:defRPr sz="2000">
                <a:solidFill>
                  <a:srgbClr val="FFFFFF"/>
                </a:solidFill>
              </a:defRPr>
            </a:pPr>
            <a:r>
              <a:t>• Per-Class Breakdown:</a:t>
            </a:r>
          </a:p>
          <a:p>
            <a:pPr lvl="1">
              <a:spcBef>
                <a:spcPts val="1000"/>
              </a:spcBef>
              <a:spcAft>
                <a:spcPts val="600"/>
              </a:spcAft>
              <a:defRPr sz="1800">
                <a:solidFill>
                  <a:srgbClr val="FFFFFF"/>
                </a:solidFill>
              </a:defRPr>
            </a:pPr>
            <a:r>
              <a:t>  - Background class: [TBD]</a:t>
            </a:r>
          </a:p>
          <a:p>
            <a:pPr lvl="1">
              <a:spcBef>
                <a:spcPts val="1000"/>
              </a:spcBef>
              <a:spcAft>
                <a:spcPts val="600"/>
              </a:spcAft>
              <a:defRPr sz="1800">
                <a:solidFill>
                  <a:srgbClr val="FFFFFF"/>
                </a:solidFill>
              </a:defRPr>
            </a:pPr>
            <a:r>
              <a:t>  - Tumor class: [TBD]</a:t>
            </a:r>
          </a:p>
          <a:p>
            <a:pPr>
              <a:spcBef>
                <a:spcPts val="1000"/>
              </a:spcBef>
              <a:spcAft>
                <a:spcPts val="600"/>
              </a:spcAft>
              <a:defRPr sz="2000">
                <a:solidFill>
                  <a:srgbClr val="FFFFFF"/>
                </a:solidFill>
              </a:defRPr>
            </a:pPr>
          </a:p>
          <a:p>
            <a:pPr>
              <a:spcBef>
                <a:spcPts val="1000"/>
              </a:spcBef>
              <a:spcAft>
                <a:spcPts val="600"/>
              </a:spcAft>
              <a:defRPr sz="2000">
                <a:solidFill>
                  <a:srgbClr val="FFFFFF"/>
                </a:solidFill>
              </a:defRPr>
            </a:pPr>
            <a:r>
              <a:t>• Inference Time: [TBD] ms per image</a:t>
            </a:r>
          </a:p>
        </p:txBody>
      </p:sp>
      <p:sp>
        <p:nvSpPr>
          <p:cNvPr id="5" name="TextBox 4"/>
          <p:cNvSpPr txBox="1"/>
          <p:nvPr/>
        </p:nvSpPr>
        <p:spPr>
          <a:xfrm>
            <a:off x="8412480" y="6400800"/>
            <a:ext cx="457200" cy="274320"/>
          </a:xfrm>
          <a:prstGeom prst="rect">
            <a:avLst/>
          </a:prstGeom>
          <a:noFill/>
        </p:spPr>
        <p:txBody>
          <a:bodyPr wrap="none">
            <a:spAutoFit/>
          </a:bodyPr>
          <a:lstStyle/>
          <a:p>
            <a:pPr algn="r">
              <a:defRPr sz="1400">
                <a:solidFill>
                  <a:srgbClr val="DCDCDC"/>
                </a:solidFill>
              </a:defRPr>
            </a:pPr>
            <a:r>
              <a:t>28</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93764"/>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none">
            <a:spAutoFit/>
          </a:bodyPr>
          <a:lstStyle/>
          <a:p>
            <a:pPr>
              <a:defRPr sz="4000" b="1">
                <a:solidFill>
                  <a:srgbClr val="FFFFFF"/>
                </a:solidFill>
              </a:defRPr>
            </a:pPr>
            <a:r>
              <a:t>[PLACEHOLDER] Failure Cases &amp; Analysis</a:t>
            </a:r>
          </a:p>
        </p:txBody>
      </p:sp>
      <p:sp>
        <p:nvSpPr>
          <p:cNvPr id="3" name="Rectangle 2"/>
          <p:cNvSpPr/>
          <p:nvPr/>
        </p:nvSpPr>
        <p:spPr>
          <a:xfrm>
            <a:off x="457200" y="1005840"/>
            <a:ext cx="8229600" cy="0"/>
          </a:xfrm>
          <a:prstGeom prst="rect">
            <a:avLst/>
          </a:prstGeom>
          <a:ln w="38100">
            <a:solidFill>
              <a:srgbClr val="FF8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7863840" cy="4846320"/>
          </a:xfrm>
          <a:prstGeom prst="rect">
            <a:avLst/>
          </a:prstGeom>
          <a:noFill/>
        </p:spPr>
        <p:txBody>
          <a:bodyPr wrap="square">
            <a:spAutoFit/>
          </a:bodyPr>
          <a:lstStyle/>
          <a:p>
            <a:pPr>
              <a:spcBef>
                <a:spcPts val="1000"/>
              </a:spcBef>
              <a:spcAft>
                <a:spcPts val="600"/>
              </a:spcAft>
              <a:defRPr sz="2000">
                <a:solidFill>
                  <a:srgbClr val="FFFFFF"/>
                </a:solidFill>
              </a:defRPr>
            </a:pPr>
            <a:r>
              <a:t>[INSERT RESULTS AFTER TRAINING]</a:t>
            </a:r>
          </a:p>
          <a:p>
            <a:pPr>
              <a:spcBef>
                <a:spcPts val="1000"/>
              </a:spcBef>
              <a:spcAft>
                <a:spcPts val="600"/>
              </a:spcAft>
              <a:defRPr sz="2000">
                <a:solidFill>
                  <a:srgbClr val="FFFFFF"/>
                </a:solidFill>
              </a:defRPr>
            </a:pPr>
          </a:p>
          <a:p>
            <a:pPr>
              <a:spcBef>
                <a:spcPts val="1000"/>
              </a:spcBef>
              <a:spcAft>
                <a:spcPts val="600"/>
              </a:spcAft>
              <a:defRPr sz="2000">
                <a:solidFill>
                  <a:srgbClr val="FFFFFF"/>
                </a:solidFill>
              </a:defRPr>
            </a:pPr>
            <a:r>
              <a:t>• Common Failure Modes:</a:t>
            </a:r>
          </a:p>
          <a:p>
            <a:pPr>
              <a:spcBef>
                <a:spcPts val="1000"/>
              </a:spcBef>
              <a:spcAft>
                <a:spcPts val="600"/>
              </a:spcAft>
              <a:defRPr sz="2000">
                <a:solidFill>
                  <a:srgbClr val="FFFFFF"/>
                </a:solidFill>
              </a:defRPr>
            </a:pPr>
          </a:p>
          <a:p>
            <a:pPr>
              <a:spcBef>
                <a:spcPts val="1000"/>
              </a:spcBef>
              <a:spcAft>
                <a:spcPts val="600"/>
              </a:spcAft>
              <a:defRPr sz="2000">
                <a:solidFill>
                  <a:srgbClr val="FFFFFF"/>
                </a:solidFill>
              </a:defRPr>
            </a:pPr>
            <a:r>
              <a:t>1. Small Tumors</a:t>
            </a:r>
          </a:p>
          <a:p>
            <a:pPr lvl="1">
              <a:spcBef>
                <a:spcPts val="1000"/>
              </a:spcBef>
              <a:spcAft>
                <a:spcPts val="600"/>
              </a:spcAft>
              <a:defRPr sz="1800">
                <a:solidFill>
                  <a:srgbClr val="FFFFFF"/>
                </a:solidFill>
              </a:defRPr>
            </a:pPr>
            <a:r>
              <a:t>  - Dice: [TBD] (&lt; mean)</a:t>
            </a:r>
          </a:p>
          <a:p>
            <a:pPr lvl="1">
              <a:spcBef>
                <a:spcPts val="1000"/>
              </a:spcBef>
              <a:spcAft>
                <a:spcPts val="600"/>
              </a:spcAft>
              <a:defRPr sz="1800">
                <a:solidFill>
                  <a:srgbClr val="FFFFFF"/>
                </a:solidFill>
              </a:defRPr>
            </a:pPr>
            <a:r>
              <a:t>  - Cause: Limited training examples, class imbalance</a:t>
            </a:r>
          </a:p>
          <a:p>
            <a:pPr>
              <a:spcBef>
                <a:spcPts val="1000"/>
              </a:spcBef>
              <a:spcAft>
                <a:spcPts val="600"/>
              </a:spcAft>
              <a:defRPr sz="2000">
                <a:solidFill>
                  <a:srgbClr val="FFFFFF"/>
                </a:solidFill>
              </a:defRPr>
            </a:pPr>
          </a:p>
          <a:p>
            <a:pPr>
              <a:spcBef>
                <a:spcPts val="1000"/>
              </a:spcBef>
              <a:spcAft>
                <a:spcPts val="600"/>
              </a:spcAft>
              <a:defRPr sz="2000">
                <a:solidFill>
                  <a:srgbClr val="FFFFFF"/>
                </a:solidFill>
              </a:defRPr>
            </a:pPr>
            <a:r>
              <a:t>2. Low Contrast Regions</a:t>
            </a:r>
          </a:p>
          <a:p>
            <a:pPr lvl="1">
              <a:spcBef>
                <a:spcPts val="1000"/>
              </a:spcBef>
              <a:spcAft>
                <a:spcPts val="600"/>
              </a:spcAft>
              <a:defRPr sz="1800">
                <a:solidFill>
                  <a:srgbClr val="FFFFFF"/>
                </a:solidFill>
              </a:defRPr>
            </a:pPr>
            <a:r>
              <a:t>  - Tumor intensity similar to surrounding tissue</a:t>
            </a:r>
          </a:p>
          <a:p>
            <a:pPr lvl="1">
              <a:spcBef>
                <a:spcPts val="1000"/>
              </a:spcBef>
              <a:spcAft>
                <a:spcPts val="600"/>
              </a:spcAft>
              <a:defRPr sz="1800">
                <a:solidFill>
                  <a:srgbClr val="FFFFFF"/>
                </a:solidFill>
              </a:defRPr>
            </a:pPr>
            <a:r>
              <a:t>  - Model struggles with boundary delineation</a:t>
            </a:r>
          </a:p>
          <a:p>
            <a:pPr>
              <a:spcBef>
                <a:spcPts val="1000"/>
              </a:spcBef>
              <a:spcAft>
                <a:spcPts val="600"/>
              </a:spcAft>
              <a:defRPr sz="2000">
                <a:solidFill>
                  <a:srgbClr val="FFFFFF"/>
                </a:solidFill>
              </a:defRPr>
            </a:pPr>
          </a:p>
          <a:p>
            <a:pPr>
              <a:spcBef>
                <a:spcPts val="1000"/>
              </a:spcBef>
              <a:spcAft>
                <a:spcPts val="600"/>
              </a:spcAft>
              <a:defRPr sz="2000">
                <a:solidFill>
                  <a:srgbClr val="FFFFFF"/>
                </a:solidFill>
              </a:defRPr>
            </a:pPr>
            <a:r>
              <a:t>3. Irregular Shapes</a:t>
            </a:r>
          </a:p>
          <a:p>
            <a:pPr lvl="1">
              <a:spcBef>
                <a:spcPts val="1000"/>
              </a:spcBef>
              <a:spcAft>
                <a:spcPts val="600"/>
              </a:spcAft>
              <a:defRPr sz="1800">
                <a:solidFill>
                  <a:srgbClr val="FFFFFF"/>
                </a:solidFill>
              </a:defRPr>
            </a:pPr>
            <a:r>
              <a:t>  - Non-spherical, heterogeneous tumors</a:t>
            </a:r>
          </a:p>
          <a:p>
            <a:pPr lvl="1">
              <a:spcBef>
                <a:spcPts val="1000"/>
              </a:spcBef>
              <a:spcAft>
                <a:spcPts val="600"/>
              </a:spcAft>
              <a:defRPr sz="1800">
                <a:solidFill>
                  <a:srgbClr val="FFFFFF"/>
                </a:solidFill>
              </a:defRPr>
            </a:pPr>
            <a:r>
              <a:t>  - Over-smoothing or under-segmentation</a:t>
            </a:r>
          </a:p>
          <a:p>
            <a:pPr>
              <a:spcBef>
                <a:spcPts val="1000"/>
              </a:spcBef>
              <a:spcAft>
                <a:spcPts val="600"/>
              </a:spcAft>
              <a:defRPr sz="2000">
                <a:solidFill>
                  <a:srgbClr val="FFFFFF"/>
                </a:solidFill>
              </a:defRPr>
            </a:pPr>
          </a:p>
          <a:p>
            <a:pPr>
              <a:spcBef>
                <a:spcPts val="1000"/>
              </a:spcBef>
              <a:spcAft>
                <a:spcPts val="600"/>
              </a:spcAft>
              <a:defRPr sz="2000">
                <a:solidFill>
                  <a:srgbClr val="FFFFFF"/>
                </a:solidFill>
              </a:defRPr>
            </a:pPr>
            <a:r>
              <a:t>• Mitigation Strategies:</a:t>
            </a:r>
          </a:p>
          <a:p>
            <a:pPr lvl="1">
              <a:spcBef>
                <a:spcPts val="1000"/>
              </a:spcBef>
              <a:spcAft>
                <a:spcPts val="600"/>
              </a:spcAft>
              <a:defRPr sz="1800">
                <a:solidFill>
                  <a:srgbClr val="FFFFFF"/>
                </a:solidFill>
              </a:defRPr>
            </a:pPr>
            <a:r>
              <a:t>  - More aggressive augmentation</a:t>
            </a:r>
          </a:p>
          <a:p>
            <a:pPr lvl="1">
              <a:spcBef>
                <a:spcPts val="1000"/>
              </a:spcBef>
              <a:spcAft>
                <a:spcPts val="600"/>
              </a:spcAft>
              <a:defRPr sz="1800">
                <a:solidFill>
                  <a:srgbClr val="FFFFFF"/>
                </a:solidFill>
              </a:defRPr>
            </a:pPr>
            <a:r>
              <a:t>  - Focal loss for hard examples</a:t>
            </a:r>
          </a:p>
          <a:p>
            <a:pPr lvl="1">
              <a:spcBef>
                <a:spcPts val="1000"/>
              </a:spcBef>
              <a:spcAft>
                <a:spcPts val="600"/>
              </a:spcAft>
              <a:defRPr sz="1800">
                <a:solidFill>
                  <a:srgbClr val="FFFFFF"/>
                </a:solidFill>
              </a:defRPr>
            </a:pPr>
            <a:r>
              <a:t>  - Ensemble methods</a:t>
            </a:r>
          </a:p>
        </p:txBody>
      </p:sp>
      <p:sp>
        <p:nvSpPr>
          <p:cNvPr id="5" name="TextBox 4"/>
          <p:cNvSpPr txBox="1"/>
          <p:nvPr/>
        </p:nvSpPr>
        <p:spPr>
          <a:xfrm>
            <a:off x="8412480" y="6400800"/>
            <a:ext cx="457200" cy="274320"/>
          </a:xfrm>
          <a:prstGeom prst="rect">
            <a:avLst/>
          </a:prstGeom>
          <a:noFill/>
        </p:spPr>
        <p:txBody>
          <a:bodyPr wrap="none">
            <a:spAutoFit/>
          </a:bodyPr>
          <a:lstStyle/>
          <a:p>
            <a:pPr algn="r">
              <a:defRPr sz="1400">
                <a:solidFill>
                  <a:srgbClr val="DCDCDC"/>
                </a:solidFill>
              </a:defRPr>
            </a:pPr>
            <a:r>
              <a:t>29</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93764"/>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none">
            <a:spAutoFit/>
          </a:bodyPr>
          <a:lstStyle/>
          <a:p>
            <a:pPr>
              <a:defRPr sz="4000" b="1">
                <a:solidFill>
                  <a:srgbClr val="FFFFFF"/>
                </a:solidFill>
              </a:defRPr>
            </a:pPr>
            <a:r>
              <a:t>[PLACEHOLDER] Comparison with Baseline U-Net</a:t>
            </a:r>
          </a:p>
        </p:txBody>
      </p:sp>
      <p:sp>
        <p:nvSpPr>
          <p:cNvPr id="3" name="Rectangle 2"/>
          <p:cNvSpPr/>
          <p:nvPr/>
        </p:nvSpPr>
        <p:spPr>
          <a:xfrm>
            <a:off x="457200" y="1005840"/>
            <a:ext cx="8229600" cy="0"/>
          </a:xfrm>
          <a:prstGeom prst="rect">
            <a:avLst/>
          </a:prstGeom>
          <a:ln w="38100">
            <a:solidFill>
              <a:srgbClr val="FF8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7863840" cy="4846320"/>
          </a:xfrm>
          <a:prstGeom prst="rect">
            <a:avLst/>
          </a:prstGeom>
          <a:noFill/>
        </p:spPr>
        <p:txBody>
          <a:bodyPr wrap="square">
            <a:spAutoFit/>
          </a:bodyPr>
          <a:lstStyle/>
          <a:p>
            <a:pPr>
              <a:spcBef>
                <a:spcPts val="1000"/>
              </a:spcBef>
              <a:spcAft>
                <a:spcPts val="600"/>
              </a:spcAft>
              <a:defRPr sz="2000">
                <a:solidFill>
                  <a:srgbClr val="FFFFFF"/>
                </a:solidFill>
              </a:defRPr>
            </a:pPr>
            <a:r>
              <a:t>[INSERT RESULTS AFTER TRAINING BOTH MODELS]</a:t>
            </a:r>
          </a:p>
          <a:p>
            <a:pPr>
              <a:spcBef>
                <a:spcPts val="1000"/>
              </a:spcBef>
              <a:spcAft>
                <a:spcPts val="600"/>
              </a:spcAft>
              <a:defRPr sz="2000">
                <a:solidFill>
                  <a:srgbClr val="FFFFFF"/>
                </a:solidFill>
              </a:defRPr>
            </a:pPr>
          </a:p>
          <a:p>
            <a:pPr>
              <a:spcBef>
                <a:spcPts val="1000"/>
              </a:spcBef>
              <a:spcAft>
                <a:spcPts val="600"/>
              </a:spcAft>
              <a:defRPr sz="2000">
                <a:solidFill>
                  <a:srgbClr val="FFFFFF"/>
                </a:solidFill>
              </a:defRPr>
            </a:pPr>
            <a:r>
              <a:t>• Performance Comparison:</a:t>
            </a:r>
          </a:p>
          <a:p>
            <a:pPr>
              <a:spcBef>
                <a:spcPts val="1000"/>
              </a:spcBef>
              <a:spcAft>
                <a:spcPts val="600"/>
              </a:spcAft>
              <a:defRPr sz="2000">
                <a:solidFill>
                  <a:srgbClr val="FFFFFF"/>
                </a:solidFill>
              </a:defRPr>
            </a:pPr>
          </a:p>
          <a:p>
            <a:pPr>
              <a:spcBef>
                <a:spcPts val="1000"/>
              </a:spcBef>
              <a:spcAft>
                <a:spcPts val="600"/>
              </a:spcAft>
              <a:defRPr sz="2000">
                <a:solidFill>
                  <a:srgbClr val="FFFFFF"/>
                </a:solidFill>
              </a:defRPr>
            </a:pPr>
            <a:r>
              <a:t>  Metric                  | U-Net | Attention U-Net | Δ</a:t>
            </a:r>
          </a:p>
          <a:p>
            <a:pPr>
              <a:spcBef>
                <a:spcPts val="1000"/>
              </a:spcBef>
              <a:spcAft>
                <a:spcPts val="600"/>
              </a:spcAft>
              <a:defRPr sz="2000">
                <a:solidFill>
                  <a:srgbClr val="FFFFFF"/>
                </a:solidFill>
              </a:defRPr>
            </a:pPr>
            <a:r>
              <a:t>  ----------------------- | ----- | --------------- | ---</a:t>
            </a:r>
          </a:p>
          <a:p>
            <a:pPr>
              <a:spcBef>
                <a:spcPts val="1000"/>
              </a:spcBef>
              <a:spcAft>
                <a:spcPts val="600"/>
              </a:spcAft>
              <a:defRPr sz="2000">
                <a:solidFill>
                  <a:srgbClr val="FFFFFF"/>
                </a:solidFill>
              </a:defRPr>
            </a:pPr>
            <a:r>
              <a:t>  Dice Score              | [TBD] | [TBD]           | [TBD]</a:t>
            </a:r>
          </a:p>
          <a:p>
            <a:pPr>
              <a:spcBef>
                <a:spcPts val="1000"/>
              </a:spcBef>
              <a:spcAft>
                <a:spcPts val="600"/>
              </a:spcAft>
              <a:defRPr sz="2000">
                <a:solidFill>
                  <a:srgbClr val="FFFFFF"/>
                </a:solidFill>
              </a:defRPr>
            </a:pPr>
            <a:r>
              <a:t>  IoU Score               | [TBD] | [TBD]           | [TBD]</a:t>
            </a:r>
          </a:p>
          <a:p>
            <a:pPr>
              <a:spcBef>
                <a:spcPts val="1000"/>
              </a:spcBef>
              <a:spcAft>
                <a:spcPts val="600"/>
              </a:spcAft>
              <a:defRPr sz="2000">
                <a:solidFill>
                  <a:srgbClr val="FFFFFF"/>
                </a:solidFill>
              </a:defRPr>
            </a:pPr>
            <a:r>
              <a:t>  Hausdorff Distance (mm) | [TBD] | [TBD]           | [TBD]</a:t>
            </a:r>
          </a:p>
          <a:p>
            <a:pPr>
              <a:spcBef>
                <a:spcPts val="1000"/>
              </a:spcBef>
              <a:spcAft>
                <a:spcPts val="600"/>
              </a:spcAft>
              <a:defRPr sz="2000">
                <a:solidFill>
                  <a:srgbClr val="FFFFFF"/>
                </a:solidFill>
              </a:defRPr>
            </a:pPr>
            <a:r>
              <a:t>  Parameters (M)          | [TBD] | [TBD]           | [TBD]</a:t>
            </a:r>
          </a:p>
          <a:p>
            <a:pPr>
              <a:spcBef>
                <a:spcPts val="1000"/>
              </a:spcBef>
              <a:spcAft>
                <a:spcPts val="600"/>
              </a:spcAft>
              <a:defRPr sz="2000">
                <a:solidFill>
                  <a:srgbClr val="FFFFFF"/>
                </a:solidFill>
              </a:defRPr>
            </a:pPr>
            <a:r>
              <a:t>  Inference Time (ms)     | [TBD] | [TBD]           | [TBD]</a:t>
            </a:r>
          </a:p>
          <a:p>
            <a:pPr>
              <a:spcBef>
                <a:spcPts val="1000"/>
              </a:spcBef>
              <a:spcAft>
                <a:spcPts val="600"/>
              </a:spcAft>
              <a:defRPr sz="2000">
                <a:solidFill>
                  <a:srgbClr val="FFFFFF"/>
                </a:solidFill>
              </a:defRPr>
            </a:pPr>
          </a:p>
          <a:p>
            <a:pPr>
              <a:spcBef>
                <a:spcPts val="1000"/>
              </a:spcBef>
              <a:spcAft>
                <a:spcPts val="600"/>
              </a:spcAft>
              <a:defRPr sz="2000">
                <a:solidFill>
                  <a:srgbClr val="FFFFFF"/>
                </a:solidFill>
              </a:defRPr>
            </a:pPr>
            <a:r>
              <a:t>• Expected Improvement: +1-3% Dice, +2-5% Sensitivity</a:t>
            </a:r>
          </a:p>
          <a:p>
            <a:pPr>
              <a:spcBef>
                <a:spcPts val="1000"/>
              </a:spcBef>
              <a:spcAft>
                <a:spcPts val="600"/>
              </a:spcAft>
              <a:defRPr sz="2000">
                <a:solidFill>
                  <a:srgbClr val="FFFFFF"/>
                </a:solidFill>
              </a:defRPr>
            </a:pPr>
          </a:p>
          <a:p>
            <a:pPr>
              <a:spcBef>
                <a:spcPts val="1000"/>
              </a:spcBef>
              <a:spcAft>
                <a:spcPts val="600"/>
              </a:spcAft>
              <a:defRPr sz="2000">
                <a:solidFill>
                  <a:srgbClr val="FFFFFF"/>
                </a:solidFill>
              </a:defRPr>
            </a:pPr>
            <a:r>
              <a:t>• Analysis: Is the attention mechanism beneficial?</a:t>
            </a:r>
          </a:p>
        </p:txBody>
      </p:sp>
      <p:sp>
        <p:nvSpPr>
          <p:cNvPr id="5" name="TextBox 4"/>
          <p:cNvSpPr txBox="1"/>
          <p:nvPr/>
        </p:nvSpPr>
        <p:spPr>
          <a:xfrm>
            <a:off x="8412480" y="6400800"/>
            <a:ext cx="457200" cy="274320"/>
          </a:xfrm>
          <a:prstGeom prst="rect">
            <a:avLst/>
          </a:prstGeom>
          <a:noFill/>
        </p:spPr>
        <p:txBody>
          <a:bodyPr wrap="none">
            <a:spAutoFit/>
          </a:bodyPr>
          <a:lstStyle/>
          <a:p>
            <a:pPr algn="r">
              <a:defRPr sz="1400">
                <a:solidFill>
                  <a:srgbClr val="DCDCDC"/>
                </a:solidFill>
              </a:defRPr>
            </a:pPr>
            <a:r>
              <a:t>30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193764"/>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none">
            <a:spAutoFit/>
          </a:bodyPr>
          <a:lstStyle/>
          <a:p>
            <a:pPr>
              <a:defRPr sz="4000" b="1">
                <a:solidFill>
                  <a:srgbClr val="FFFFFF"/>
                </a:solidFill>
              </a:defRPr>
            </a:pPr>
            <a:r>
              <a:t>Summary of Findings</a:t>
            </a:r>
          </a:p>
        </p:txBody>
      </p:sp>
      <p:sp>
        <p:nvSpPr>
          <p:cNvPr id="3" name="Rectangle 2"/>
          <p:cNvSpPr/>
          <p:nvPr/>
        </p:nvSpPr>
        <p:spPr>
          <a:xfrm>
            <a:off x="457200" y="1005840"/>
            <a:ext cx="8229600" cy="0"/>
          </a:xfrm>
          <a:prstGeom prst="rect">
            <a:avLst/>
          </a:prstGeom>
          <a:ln w="38100">
            <a:solidFill>
              <a:srgbClr val="FF8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7863840" cy="4846320"/>
          </a:xfrm>
          <a:prstGeom prst="rect">
            <a:avLst/>
          </a:prstGeom>
          <a:noFill/>
        </p:spPr>
        <p:txBody>
          <a:bodyPr wrap="square">
            <a:spAutoFit/>
          </a:bodyPr>
          <a:lstStyle/>
          <a:p>
            <a:pPr>
              <a:spcBef>
                <a:spcPts val="1000"/>
              </a:spcBef>
              <a:spcAft>
                <a:spcPts val="600"/>
              </a:spcAft>
              <a:defRPr sz="2000">
                <a:solidFill>
                  <a:srgbClr val="FFFFFF"/>
                </a:solidFill>
              </a:defRPr>
            </a:pPr>
            <a:r>
              <a:t>• Medical Image Segmentation is Critical</a:t>
            </a:r>
          </a:p>
          <a:p>
            <a:pPr lvl="1">
              <a:spcBef>
                <a:spcPts val="1000"/>
              </a:spcBef>
              <a:spcAft>
                <a:spcPts val="600"/>
              </a:spcAft>
              <a:defRPr sz="1800">
                <a:solidFill>
                  <a:srgbClr val="FFFFFF"/>
                </a:solidFill>
              </a:defRPr>
            </a:pPr>
            <a:r>
              <a:t>  - Essential for diagnosis, treatment planning, and monitoring</a:t>
            </a:r>
          </a:p>
          <a:p>
            <a:pPr lvl="1">
              <a:spcBef>
                <a:spcPts val="1000"/>
              </a:spcBef>
              <a:spcAft>
                <a:spcPts val="600"/>
              </a:spcAft>
              <a:defRPr sz="1800">
                <a:solidFill>
                  <a:srgbClr val="FFFFFF"/>
                </a:solidFill>
              </a:defRPr>
            </a:pPr>
            <a:r>
              <a:t>  - Manual segmentation is slow, inconsistent, and non-scalable</a:t>
            </a:r>
          </a:p>
          <a:p>
            <a:pPr>
              <a:spcBef>
                <a:spcPts val="1000"/>
              </a:spcBef>
              <a:spcAft>
                <a:spcPts val="600"/>
              </a:spcAft>
              <a:defRPr sz="2000">
                <a:solidFill>
                  <a:srgbClr val="FFFFFF"/>
                </a:solidFill>
              </a:defRPr>
            </a:pPr>
          </a:p>
          <a:p>
            <a:pPr>
              <a:spcBef>
                <a:spcPts val="1000"/>
              </a:spcBef>
              <a:spcAft>
                <a:spcPts val="600"/>
              </a:spcAft>
              <a:defRPr sz="2000">
                <a:solidFill>
                  <a:srgbClr val="FFFFFF"/>
                </a:solidFill>
              </a:defRPr>
            </a:pPr>
            <a:r>
              <a:t>• Deep Learning Has Revolutionized the Field</a:t>
            </a:r>
          </a:p>
          <a:p>
            <a:pPr lvl="1">
              <a:spcBef>
                <a:spcPts val="1000"/>
              </a:spcBef>
              <a:spcAft>
                <a:spcPts val="600"/>
              </a:spcAft>
              <a:defRPr sz="1800">
                <a:solidFill>
                  <a:srgbClr val="FFFFFF"/>
                </a:solidFill>
              </a:defRPr>
            </a:pPr>
            <a:r>
              <a:t>  - U-Net (2015) established the foundation</a:t>
            </a:r>
          </a:p>
          <a:p>
            <a:pPr lvl="1">
              <a:spcBef>
                <a:spcPts val="1000"/>
              </a:spcBef>
              <a:spcAft>
                <a:spcPts val="600"/>
              </a:spcAft>
              <a:defRPr sz="1800">
                <a:solidFill>
                  <a:srgbClr val="FFFFFF"/>
                </a:solidFill>
              </a:defRPr>
            </a:pPr>
            <a:r>
              <a:t>  - Attention mechanisms improve focus on salient regions</a:t>
            </a:r>
          </a:p>
          <a:p>
            <a:pPr lvl="1">
              <a:spcBef>
                <a:spcPts val="1000"/>
              </a:spcBef>
              <a:spcAft>
                <a:spcPts val="600"/>
              </a:spcAft>
              <a:defRPr sz="1800">
                <a:solidFill>
                  <a:srgbClr val="FFFFFF"/>
                </a:solidFill>
              </a:defRPr>
            </a:pPr>
            <a:r>
              <a:t>  - Modern methods (nnU-Net) match human expert performance</a:t>
            </a:r>
          </a:p>
          <a:p>
            <a:pPr>
              <a:spcBef>
                <a:spcPts val="1000"/>
              </a:spcBef>
              <a:spcAft>
                <a:spcPts val="600"/>
              </a:spcAft>
              <a:defRPr sz="2000">
                <a:solidFill>
                  <a:srgbClr val="FFFFFF"/>
                </a:solidFill>
              </a:defRPr>
            </a:pPr>
          </a:p>
          <a:p>
            <a:pPr>
              <a:spcBef>
                <a:spcPts val="1000"/>
              </a:spcBef>
              <a:spcAft>
                <a:spcPts val="600"/>
              </a:spcAft>
              <a:defRPr sz="2000">
                <a:solidFill>
                  <a:srgbClr val="FFFFFF"/>
                </a:solidFill>
              </a:defRPr>
            </a:pPr>
            <a:r>
              <a:t>• Our Implementation: Attention U-Net for Lung Tumors</a:t>
            </a:r>
          </a:p>
          <a:p>
            <a:pPr lvl="1">
              <a:spcBef>
                <a:spcPts val="1000"/>
              </a:spcBef>
              <a:spcAft>
                <a:spcPts val="600"/>
              </a:spcAft>
              <a:defRPr sz="1800">
                <a:solidFill>
                  <a:srgbClr val="FFFFFF"/>
                </a:solidFill>
              </a:defRPr>
            </a:pPr>
            <a:r>
              <a:t>  - Dataset: Medical Segmentation Decathlon - Lung CT</a:t>
            </a:r>
          </a:p>
          <a:p>
            <a:pPr lvl="1">
              <a:spcBef>
                <a:spcPts val="1000"/>
              </a:spcBef>
              <a:spcAft>
                <a:spcPts val="600"/>
              </a:spcAft>
              <a:defRPr sz="1800">
                <a:solidFill>
                  <a:srgbClr val="FFFFFF"/>
                </a:solidFill>
              </a:defRPr>
            </a:pPr>
            <a:r>
              <a:t>  - Combined Dice + CE loss, deep supervision, AMP training</a:t>
            </a:r>
          </a:p>
          <a:p>
            <a:pPr lvl="1">
              <a:spcBef>
                <a:spcPts val="1000"/>
              </a:spcBef>
              <a:spcAft>
                <a:spcPts val="600"/>
              </a:spcAft>
              <a:defRPr sz="1800">
                <a:solidFill>
                  <a:srgbClr val="FFFFFF"/>
                </a:solidFill>
              </a:defRPr>
            </a:pPr>
            <a:r>
              <a:t>  - Comprehensive evaluation: Dice, IoU, Hausdorff distance</a:t>
            </a:r>
          </a:p>
          <a:p>
            <a:pPr>
              <a:spcBef>
                <a:spcPts val="1000"/>
              </a:spcBef>
              <a:spcAft>
                <a:spcPts val="600"/>
              </a:spcAft>
              <a:defRPr sz="2000">
                <a:solidFill>
                  <a:srgbClr val="FFFFFF"/>
                </a:solidFill>
              </a:defRPr>
            </a:pPr>
          </a:p>
          <a:p>
            <a:pPr>
              <a:spcBef>
                <a:spcPts val="1000"/>
              </a:spcBef>
              <a:spcAft>
                <a:spcPts val="600"/>
              </a:spcAft>
              <a:defRPr sz="2000">
                <a:solidFill>
                  <a:srgbClr val="FFFFFF"/>
                </a:solidFill>
              </a:defRPr>
            </a:pPr>
            <a:r>
              <a:t>• Key Takeaway: Attention gates provide interpretability + performance</a:t>
            </a:r>
          </a:p>
        </p:txBody>
      </p:sp>
      <p:sp>
        <p:nvSpPr>
          <p:cNvPr id="5" name="TextBox 4"/>
          <p:cNvSpPr txBox="1"/>
          <p:nvPr/>
        </p:nvSpPr>
        <p:spPr>
          <a:xfrm>
            <a:off x="8412480" y="6400800"/>
            <a:ext cx="457200" cy="274320"/>
          </a:xfrm>
          <a:prstGeom prst="rect">
            <a:avLst/>
          </a:prstGeom>
          <a:noFill/>
        </p:spPr>
        <p:txBody>
          <a:bodyPr wrap="none">
            <a:spAutoFit/>
          </a:bodyPr>
          <a:lstStyle/>
          <a:p>
            <a:pPr algn="r">
              <a:defRPr sz="1400">
                <a:solidFill>
                  <a:srgbClr val="DCDCDC"/>
                </a:solidFill>
              </a:defRPr>
            </a:pPr>
            <a:r>
              <a:t>31</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93764"/>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none">
            <a:spAutoFit/>
          </a:bodyPr>
          <a:lstStyle/>
          <a:p>
            <a:pPr>
              <a:defRPr sz="4000" b="1">
                <a:solidFill>
                  <a:srgbClr val="FFFFFF"/>
                </a:solidFill>
              </a:defRPr>
            </a:pPr>
            <a:r>
              <a:t>Future Directions &amp; Open Challenges</a:t>
            </a:r>
          </a:p>
        </p:txBody>
      </p:sp>
      <p:sp>
        <p:nvSpPr>
          <p:cNvPr id="3" name="Rectangle 2"/>
          <p:cNvSpPr/>
          <p:nvPr/>
        </p:nvSpPr>
        <p:spPr>
          <a:xfrm>
            <a:off x="457200" y="1005840"/>
            <a:ext cx="8229600" cy="0"/>
          </a:xfrm>
          <a:prstGeom prst="rect">
            <a:avLst/>
          </a:prstGeom>
          <a:ln w="38100">
            <a:solidFill>
              <a:srgbClr val="FF8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7863840" cy="4846320"/>
          </a:xfrm>
          <a:prstGeom prst="rect">
            <a:avLst/>
          </a:prstGeom>
          <a:noFill/>
        </p:spPr>
        <p:txBody>
          <a:bodyPr wrap="square">
            <a:spAutoFit/>
          </a:bodyPr>
          <a:lstStyle/>
          <a:p>
            <a:pPr>
              <a:spcBef>
                <a:spcPts val="1000"/>
              </a:spcBef>
              <a:spcAft>
                <a:spcPts val="600"/>
              </a:spcAft>
              <a:defRPr sz="2000">
                <a:solidFill>
                  <a:srgbClr val="FFFFFF"/>
                </a:solidFill>
              </a:defRPr>
            </a:pPr>
            <a:r>
              <a:t>• 3D Attention Mechanisms</a:t>
            </a:r>
          </a:p>
          <a:p>
            <a:pPr lvl="1">
              <a:spcBef>
                <a:spcPts val="1000"/>
              </a:spcBef>
              <a:spcAft>
                <a:spcPts val="600"/>
              </a:spcAft>
              <a:defRPr sz="1800">
                <a:solidFill>
                  <a:srgbClr val="FFFFFF"/>
                </a:solidFill>
              </a:defRPr>
            </a:pPr>
            <a:r>
              <a:t>  - Current: 2D slices, Future: Full 3D volumetric attention</a:t>
            </a:r>
          </a:p>
          <a:p>
            <a:pPr lvl="1">
              <a:spcBef>
                <a:spcPts val="1000"/>
              </a:spcBef>
              <a:spcAft>
                <a:spcPts val="600"/>
              </a:spcAft>
              <a:defRPr sz="1800">
                <a:solidFill>
                  <a:srgbClr val="FFFFFF"/>
                </a:solidFill>
              </a:defRPr>
            </a:pPr>
            <a:r>
              <a:t>  - Challenge: Memory and computational requirements</a:t>
            </a:r>
          </a:p>
          <a:p>
            <a:pPr>
              <a:spcBef>
                <a:spcPts val="1000"/>
              </a:spcBef>
              <a:spcAft>
                <a:spcPts val="600"/>
              </a:spcAft>
              <a:defRPr sz="2000">
                <a:solidFill>
                  <a:srgbClr val="FFFFFF"/>
                </a:solidFill>
              </a:defRPr>
            </a:pPr>
          </a:p>
          <a:p>
            <a:pPr>
              <a:spcBef>
                <a:spcPts val="1000"/>
              </a:spcBef>
              <a:spcAft>
                <a:spcPts val="600"/>
              </a:spcAft>
              <a:defRPr sz="2000">
                <a:solidFill>
                  <a:srgbClr val="FFFFFF"/>
                </a:solidFill>
              </a:defRPr>
            </a:pPr>
            <a:r>
              <a:t>• Transformer-Based Architectures</a:t>
            </a:r>
          </a:p>
          <a:p>
            <a:pPr lvl="1">
              <a:spcBef>
                <a:spcPts val="1000"/>
              </a:spcBef>
              <a:spcAft>
                <a:spcPts val="600"/>
              </a:spcAft>
              <a:defRPr sz="1800">
                <a:solidFill>
                  <a:srgbClr val="FFFFFF"/>
                </a:solidFill>
              </a:defRPr>
            </a:pPr>
            <a:r>
              <a:t>  - Vision Transformers, Swin Transformers for segmentation</a:t>
            </a:r>
          </a:p>
          <a:p>
            <a:pPr lvl="1">
              <a:spcBef>
                <a:spcPts val="1000"/>
              </a:spcBef>
              <a:spcAft>
                <a:spcPts val="600"/>
              </a:spcAft>
              <a:defRPr sz="1800">
                <a:solidFill>
                  <a:srgbClr val="FFFFFF"/>
                </a:solidFill>
              </a:defRPr>
            </a:pPr>
            <a:r>
              <a:t>  - Challenge: Requires large datasets (&gt;10k images)</a:t>
            </a:r>
          </a:p>
          <a:p>
            <a:pPr>
              <a:spcBef>
                <a:spcPts val="1000"/>
              </a:spcBef>
              <a:spcAft>
                <a:spcPts val="600"/>
              </a:spcAft>
              <a:defRPr sz="2000">
                <a:solidFill>
                  <a:srgbClr val="FFFFFF"/>
                </a:solidFill>
              </a:defRPr>
            </a:pPr>
          </a:p>
          <a:p>
            <a:pPr>
              <a:spcBef>
                <a:spcPts val="1000"/>
              </a:spcBef>
              <a:spcAft>
                <a:spcPts val="600"/>
              </a:spcAft>
              <a:defRPr sz="2000">
                <a:solidFill>
                  <a:srgbClr val="FFFFFF"/>
                </a:solidFill>
              </a:defRPr>
            </a:pPr>
            <a:r>
              <a:t>• Foundation Models</a:t>
            </a:r>
          </a:p>
          <a:p>
            <a:pPr lvl="1">
              <a:spcBef>
                <a:spcPts val="1000"/>
              </a:spcBef>
              <a:spcAft>
                <a:spcPts val="600"/>
              </a:spcAft>
              <a:defRPr sz="1800">
                <a:solidFill>
                  <a:srgbClr val="FFFFFF"/>
                </a:solidFill>
              </a:defRPr>
            </a:pPr>
            <a:r>
              <a:t>  - SAM (Segment Anything Model), MedSAM for medical imaging</a:t>
            </a:r>
          </a:p>
          <a:p>
            <a:pPr lvl="1">
              <a:spcBef>
                <a:spcPts val="1000"/>
              </a:spcBef>
              <a:spcAft>
                <a:spcPts val="600"/>
              </a:spcAft>
              <a:defRPr sz="1800">
                <a:solidFill>
                  <a:srgbClr val="FFFFFF"/>
                </a:solidFill>
              </a:defRPr>
            </a:pPr>
            <a:r>
              <a:t>  - Transfer learning from massive datasets</a:t>
            </a:r>
          </a:p>
          <a:p>
            <a:pPr lvl="1">
              <a:spcBef>
                <a:spcPts val="1000"/>
              </a:spcBef>
              <a:spcAft>
                <a:spcPts val="600"/>
              </a:spcAft>
              <a:defRPr sz="1800">
                <a:solidFill>
                  <a:srgbClr val="FFFFFF"/>
                </a:solidFill>
              </a:defRPr>
            </a:pPr>
            <a:r>
              <a:t>  - Challenge: Domain adaptation to medical imaging</a:t>
            </a:r>
          </a:p>
          <a:p>
            <a:pPr>
              <a:spcBef>
                <a:spcPts val="1000"/>
              </a:spcBef>
              <a:spcAft>
                <a:spcPts val="600"/>
              </a:spcAft>
              <a:defRPr sz="2000">
                <a:solidFill>
                  <a:srgbClr val="FFFFFF"/>
                </a:solidFill>
              </a:defRPr>
            </a:pPr>
          </a:p>
          <a:p>
            <a:pPr>
              <a:spcBef>
                <a:spcPts val="1000"/>
              </a:spcBef>
              <a:spcAft>
                <a:spcPts val="600"/>
              </a:spcAft>
              <a:defRPr sz="2000">
                <a:solidFill>
                  <a:srgbClr val="FFFFFF"/>
                </a:solidFill>
              </a:defRPr>
            </a:pPr>
            <a:r>
              <a:t>• Multi-Modal Fusion</a:t>
            </a:r>
          </a:p>
          <a:p>
            <a:pPr lvl="1">
              <a:spcBef>
                <a:spcPts val="1000"/>
              </a:spcBef>
              <a:spcAft>
                <a:spcPts val="600"/>
              </a:spcAft>
              <a:defRPr sz="1800">
                <a:solidFill>
                  <a:srgbClr val="FFFFFF"/>
                </a:solidFill>
              </a:defRPr>
            </a:pPr>
            <a:r>
              <a:t>  - Combining CT, MRI, PET for comprehensive analysis</a:t>
            </a:r>
          </a:p>
          <a:p>
            <a:pPr>
              <a:spcBef>
                <a:spcPts val="1000"/>
              </a:spcBef>
              <a:spcAft>
                <a:spcPts val="600"/>
              </a:spcAft>
              <a:defRPr sz="2000">
                <a:solidFill>
                  <a:srgbClr val="FFFFFF"/>
                </a:solidFill>
              </a:defRPr>
            </a:pPr>
          </a:p>
          <a:p>
            <a:pPr>
              <a:spcBef>
                <a:spcPts val="1000"/>
              </a:spcBef>
              <a:spcAft>
                <a:spcPts val="600"/>
              </a:spcAft>
              <a:defRPr sz="2000">
                <a:solidFill>
                  <a:srgbClr val="FFFFFF"/>
                </a:solidFill>
              </a:defRPr>
            </a:pPr>
            <a:r>
              <a:t>• Uncertainty Quantification</a:t>
            </a:r>
          </a:p>
          <a:p>
            <a:pPr lvl="1">
              <a:spcBef>
                <a:spcPts val="1000"/>
              </a:spcBef>
              <a:spcAft>
                <a:spcPts val="600"/>
              </a:spcAft>
              <a:defRPr sz="1800">
                <a:solidFill>
                  <a:srgbClr val="FFFFFF"/>
                </a:solidFill>
              </a:defRPr>
            </a:pPr>
            <a:r>
              <a:t>  - Bayesian deep learning, ensemble methods</a:t>
            </a:r>
          </a:p>
          <a:p>
            <a:pPr lvl="1">
              <a:spcBef>
                <a:spcPts val="1000"/>
              </a:spcBef>
              <a:spcAft>
                <a:spcPts val="600"/>
              </a:spcAft>
              <a:defRPr sz="1800">
                <a:solidFill>
                  <a:srgbClr val="FFFFFF"/>
                </a:solidFill>
              </a:defRPr>
            </a:pPr>
            <a:r>
              <a:t>  - Critical for clinical decision support</a:t>
            </a:r>
          </a:p>
        </p:txBody>
      </p:sp>
      <p:sp>
        <p:nvSpPr>
          <p:cNvPr id="5" name="TextBox 4"/>
          <p:cNvSpPr txBox="1"/>
          <p:nvPr/>
        </p:nvSpPr>
        <p:spPr>
          <a:xfrm>
            <a:off x="8412480" y="6400800"/>
            <a:ext cx="457200" cy="274320"/>
          </a:xfrm>
          <a:prstGeom prst="rect">
            <a:avLst/>
          </a:prstGeom>
          <a:noFill/>
        </p:spPr>
        <p:txBody>
          <a:bodyPr wrap="none">
            <a:spAutoFit/>
          </a:bodyPr>
          <a:lstStyle/>
          <a:p>
            <a:pPr algn="r">
              <a:defRPr sz="1400">
                <a:solidFill>
                  <a:srgbClr val="DCDCDC"/>
                </a:solidFill>
              </a:defRPr>
            </a:pPr>
            <a:r>
              <a:t>32</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193764"/>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none">
            <a:spAutoFit/>
          </a:bodyPr>
          <a:lstStyle/>
          <a:p>
            <a:pPr>
              <a:defRPr sz="4000" b="1">
                <a:solidFill>
                  <a:srgbClr val="FFFFFF"/>
                </a:solidFill>
              </a:defRPr>
            </a:pPr>
            <a:r>
              <a:t>References (1/2)</a:t>
            </a:r>
          </a:p>
        </p:txBody>
      </p:sp>
      <p:sp>
        <p:nvSpPr>
          <p:cNvPr id="3" name="Rectangle 2"/>
          <p:cNvSpPr/>
          <p:nvPr/>
        </p:nvSpPr>
        <p:spPr>
          <a:xfrm>
            <a:off x="457200" y="1005840"/>
            <a:ext cx="8229600" cy="0"/>
          </a:xfrm>
          <a:prstGeom prst="rect">
            <a:avLst/>
          </a:prstGeom>
          <a:ln w="38100">
            <a:solidFill>
              <a:srgbClr val="FF8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7863840" cy="4846320"/>
          </a:xfrm>
          <a:prstGeom prst="rect">
            <a:avLst/>
          </a:prstGeom>
          <a:noFill/>
        </p:spPr>
        <p:txBody>
          <a:bodyPr wrap="square">
            <a:spAutoFit/>
          </a:bodyPr>
          <a:lstStyle/>
          <a:p>
            <a:pPr>
              <a:spcBef>
                <a:spcPts val="1000"/>
              </a:spcBef>
              <a:spcAft>
                <a:spcPts val="600"/>
              </a:spcAft>
              <a:defRPr sz="2000">
                <a:solidFill>
                  <a:srgbClr val="FFFFFF"/>
                </a:solidFill>
              </a:defRPr>
            </a:pPr>
            <a:r>
              <a:t>1. Long, J., Shelhamer, E., &amp; Darrell, T. (2015). Fully convolutional networks for semantic segmentation. CVPR.</a:t>
            </a:r>
          </a:p>
          <a:p>
            <a:pPr>
              <a:spcBef>
                <a:spcPts val="1000"/>
              </a:spcBef>
              <a:spcAft>
                <a:spcPts val="600"/>
              </a:spcAft>
              <a:defRPr sz="2000">
                <a:solidFill>
                  <a:srgbClr val="FFFFFF"/>
                </a:solidFill>
              </a:defRPr>
            </a:pPr>
          </a:p>
          <a:p>
            <a:pPr>
              <a:spcBef>
                <a:spcPts val="1000"/>
              </a:spcBef>
              <a:spcAft>
                <a:spcPts val="600"/>
              </a:spcAft>
              <a:defRPr sz="2000">
                <a:solidFill>
                  <a:srgbClr val="FFFFFF"/>
                </a:solidFill>
              </a:defRPr>
            </a:pPr>
            <a:r>
              <a:t>2. Ronneberger, O., Fischer, P., &amp; Brox, T. (2015). U-net: Convolutional networks for biomedical image segmentation. MICCAI, 234-241.</a:t>
            </a:r>
          </a:p>
          <a:p>
            <a:pPr>
              <a:spcBef>
                <a:spcPts val="1000"/>
              </a:spcBef>
              <a:spcAft>
                <a:spcPts val="600"/>
              </a:spcAft>
              <a:defRPr sz="2000">
                <a:solidFill>
                  <a:srgbClr val="FFFFFF"/>
                </a:solidFill>
              </a:defRPr>
            </a:pPr>
          </a:p>
          <a:p>
            <a:pPr>
              <a:spcBef>
                <a:spcPts val="1000"/>
              </a:spcBef>
              <a:spcAft>
                <a:spcPts val="600"/>
              </a:spcAft>
              <a:defRPr sz="2000">
                <a:solidFill>
                  <a:srgbClr val="FFFFFF"/>
                </a:solidFill>
              </a:defRPr>
            </a:pPr>
            <a:r>
              <a:t>3. Milletari, F., Navab, N., &amp; Ahmadi, S. A. (2016). V-net: Fully convolutional neural networks for volumetric medical image segmentation. 3DV, 565-571.</a:t>
            </a:r>
          </a:p>
          <a:p>
            <a:pPr>
              <a:spcBef>
                <a:spcPts val="1000"/>
              </a:spcBef>
              <a:spcAft>
                <a:spcPts val="600"/>
              </a:spcAft>
              <a:defRPr sz="2000">
                <a:solidFill>
                  <a:srgbClr val="FFFFFF"/>
                </a:solidFill>
              </a:defRPr>
            </a:pPr>
          </a:p>
          <a:p>
            <a:pPr>
              <a:spcBef>
                <a:spcPts val="1000"/>
              </a:spcBef>
              <a:spcAft>
                <a:spcPts val="600"/>
              </a:spcAft>
              <a:defRPr sz="2000">
                <a:solidFill>
                  <a:srgbClr val="FFFFFF"/>
                </a:solidFill>
              </a:defRPr>
            </a:pPr>
            <a:r>
              <a:t>4. Zhou, Z., Rahman Siddiquee, M. M., Tajbakhsh, N., &amp; Liang, J. (2018). Unet++: A nested u-net architecture for medical image segmentation. MICCAI Workshops.</a:t>
            </a:r>
          </a:p>
          <a:p>
            <a:pPr>
              <a:spcBef>
                <a:spcPts val="1000"/>
              </a:spcBef>
              <a:spcAft>
                <a:spcPts val="600"/>
              </a:spcAft>
              <a:defRPr sz="2000">
                <a:solidFill>
                  <a:srgbClr val="FFFFFF"/>
                </a:solidFill>
              </a:defRPr>
            </a:pPr>
          </a:p>
          <a:p>
            <a:pPr>
              <a:spcBef>
                <a:spcPts val="1000"/>
              </a:spcBef>
              <a:spcAft>
                <a:spcPts val="600"/>
              </a:spcAft>
              <a:defRPr sz="2000">
                <a:solidFill>
                  <a:srgbClr val="FFFFFF"/>
                </a:solidFill>
              </a:defRPr>
            </a:pPr>
            <a:r>
              <a:t>5. Oktay, O., et al. (2018). Attention u-net: Learning where to look for the pancreas. MIDL.</a:t>
            </a:r>
          </a:p>
        </p:txBody>
      </p:sp>
      <p:sp>
        <p:nvSpPr>
          <p:cNvPr id="5" name="TextBox 4"/>
          <p:cNvSpPr txBox="1"/>
          <p:nvPr/>
        </p:nvSpPr>
        <p:spPr>
          <a:xfrm>
            <a:off x="8412480" y="6400800"/>
            <a:ext cx="457200" cy="274320"/>
          </a:xfrm>
          <a:prstGeom prst="rect">
            <a:avLst/>
          </a:prstGeom>
          <a:noFill/>
        </p:spPr>
        <p:txBody>
          <a:bodyPr wrap="none">
            <a:spAutoFit/>
          </a:bodyPr>
          <a:lstStyle/>
          <a:p>
            <a:pPr algn="r">
              <a:defRPr sz="1400">
                <a:solidFill>
                  <a:srgbClr val="DCDCDC"/>
                </a:solidFill>
              </a:defRPr>
            </a:pPr>
            <a:r>
              <a:t>33</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93764"/>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none">
            <a:spAutoFit/>
          </a:bodyPr>
          <a:lstStyle/>
          <a:p>
            <a:pPr>
              <a:defRPr sz="4000" b="1">
                <a:solidFill>
                  <a:srgbClr val="FFFFFF"/>
                </a:solidFill>
              </a:defRPr>
            </a:pPr>
            <a:r>
              <a:t>References (2/2)</a:t>
            </a:r>
          </a:p>
        </p:txBody>
      </p:sp>
      <p:sp>
        <p:nvSpPr>
          <p:cNvPr id="3" name="Rectangle 2"/>
          <p:cNvSpPr/>
          <p:nvPr/>
        </p:nvSpPr>
        <p:spPr>
          <a:xfrm>
            <a:off x="457200" y="1005840"/>
            <a:ext cx="8229600" cy="0"/>
          </a:xfrm>
          <a:prstGeom prst="rect">
            <a:avLst/>
          </a:prstGeom>
          <a:ln w="38100">
            <a:solidFill>
              <a:srgbClr val="FF8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7863840" cy="4846320"/>
          </a:xfrm>
          <a:prstGeom prst="rect">
            <a:avLst/>
          </a:prstGeom>
          <a:noFill/>
        </p:spPr>
        <p:txBody>
          <a:bodyPr wrap="square">
            <a:spAutoFit/>
          </a:bodyPr>
          <a:lstStyle/>
          <a:p>
            <a:pPr>
              <a:spcBef>
                <a:spcPts val="1000"/>
              </a:spcBef>
              <a:spcAft>
                <a:spcPts val="600"/>
              </a:spcAft>
              <a:defRPr sz="2000">
                <a:solidFill>
                  <a:srgbClr val="FFFFFF"/>
                </a:solidFill>
              </a:defRPr>
            </a:pPr>
            <a:r>
              <a:t>6. Isensee, F., Jaeger, P. F., Kohl, S. A., Petersen, J., &amp; Maier-Hein, K. H. (2021). nnU-Net: a self-configuring method for deep learning-based biomedical image segmentation. Nature Methods, 18(2), 203-211.</a:t>
            </a:r>
          </a:p>
          <a:p>
            <a:pPr>
              <a:spcBef>
                <a:spcPts val="1000"/>
              </a:spcBef>
              <a:spcAft>
                <a:spcPts val="600"/>
              </a:spcAft>
              <a:defRPr sz="2000">
                <a:solidFill>
                  <a:srgbClr val="FFFFFF"/>
                </a:solidFill>
              </a:defRPr>
            </a:pPr>
          </a:p>
          <a:p>
            <a:pPr>
              <a:spcBef>
                <a:spcPts val="1000"/>
              </a:spcBef>
              <a:spcAft>
                <a:spcPts val="600"/>
              </a:spcAft>
              <a:defRPr sz="2000">
                <a:solidFill>
                  <a:srgbClr val="FFFFFF"/>
                </a:solidFill>
              </a:defRPr>
            </a:pPr>
            <a:r>
              <a:t>7. Chen, J., et al. (2021). TransUNet: Transformers make strong encoders for medical image segmentation. arXiv:2102.04306.</a:t>
            </a:r>
          </a:p>
          <a:p>
            <a:pPr>
              <a:spcBef>
                <a:spcPts val="1000"/>
              </a:spcBef>
              <a:spcAft>
                <a:spcPts val="600"/>
              </a:spcAft>
              <a:defRPr sz="2000">
                <a:solidFill>
                  <a:srgbClr val="FFFFFF"/>
                </a:solidFill>
              </a:defRPr>
            </a:pPr>
          </a:p>
          <a:p>
            <a:pPr>
              <a:spcBef>
                <a:spcPts val="1000"/>
              </a:spcBef>
              <a:spcAft>
                <a:spcPts val="600"/>
              </a:spcAft>
              <a:defRPr sz="2000">
                <a:solidFill>
                  <a:srgbClr val="FFFFFF"/>
                </a:solidFill>
              </a:defRPr>
            </a:pPr>
            <a:r>
              <a:t>8. Cao, H., et al. (2022). Swin-Unet: Unet-like pure transformer for medical image segmentation. ECCV Workshops.</a:t>
            </a:r>
          </a:p>
          <a:p>
            <a:pPr>
              <a:spcBef>
                <a:spcPts val="1000"/>
              </a:spcBef>
              <a:spcAft>
                <a:spcPts val="600"/>
              </a:spcAft>
              <a:defRPr sz="2000">
                <a:solidFill>
                  <a:srgbClr val="FFFFFF"/>
                </a:solidFill>
              </a:defRPr>
            </a:pPr>
          </a:p>
          <a:p>
            <a:pPr>
              <a:spcBef>
                <a:spcPts val="1000"/>
              </a:spcBef>
              <a:spcAft>
                <a:spcPts val="600"/>
              </a:spcAft>
              <a:defRPr sz="2000">
                <a:solidFill>
                  <a:srgbClr val="FFFFFF"/>
                </a:solidFill>
              </a:defRPr>
            </a:pPr>
            <a:r>
              <a:t>9. Zhou, H. Y., et al. (2023). nnFormer: Interleaved transformer for volumetric segmentation. arXiv:2109.03201.</a:t>
            </a:r>
          </a:p>
          <a:p>
            <a:pPr>
              <a:spcBef>
                <a:spcPts val="1000"/>
              </a:spcBef>
              <a:spcAft>
                <a:spcPts val="600"/>
              </a:spcAft>
              <a:defRPr sz="2000">
                <a:solidFill>
                  <a:srgbClr val="FFFFFF"/>
                </a:solidFill>
              </a:defRPr>
            </a:pPr>
          </a:p>
          <a:p>
            <a:pPr>
              <a:spcBef>
                <a:spcPts val="1000"/>
              </a:spcBef>
              <a:spcAft>
                <a:spcPts val="600"/>
              </a:spcAft>
              <a:defRPr sz="2000">
                <a:solidFill>
                  <a:srgbClr val="FFFFFF"/>
                </a:solidFill>
              </a:defRPr>
            </a:pPr>
            <a:r>
              <a:t>10. Medical Segmentation Decathlon: http://medicaldecathlon.com/</a:t>
            </a:r>
          </a:p>
        </p:txBody>
      </p:sp>
      <p:sp>
        <p:nvSpPr>
          <p:cNvPr id="5" name="TextBox 4"/>
          <p:cNvSpPr txBox="1"/>
          <p:nvPr/>
        </p:nvSpPr>
        <p:spPr>
          <a:xfrm>
            <a:off x="8412480" y="6400800"/>
            <a:ext cx="457200" cy="274320"/>
          </a:xfrm>
          <a:prstGeom prst="rect">
            <a:avLst/>
          </a:prstGeom>
          <a:noFill/>
        </p:spPr>
        <p:txBody>
          <a:bodyPr wrap="none">
            <a:spAutoFit/>
          </a:bodyPr>
          <a:lstStyle/>
          <a:p>
            <a:pPr algn="r">
              <a:defRPr sz="1400">
                <a:solidFill>
                  <a:srgbClr val="DCDCDC"/>
                </a:solidFill>
              </a:defRPr>
            </a:pPr>
            <a:r>
              <a:t>34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