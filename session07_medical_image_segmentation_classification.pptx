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FF"/>
                </a:solidFill>
                <a:latin typeface="Raleway"/>
              </a:defRPr>
            </a:pPr>
            <a:r>
              <a:t>Medical Image Segmentation and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Raleway"/>
              </a:defRPr>
            </a:pPr>
            <a:r>
              <a:t>Session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Raleway"/>
              </a:defRPr>
            </a:pPr>
            <a:r>
              <a:t>Oct 18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Session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Part I: Foundations &amp; Medical Context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Medical imaging modalities and clinical needs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Problem formulation: Segmentation vs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Data characteristics and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863840" cy="822959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Part II: Segmentation Architectures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U-Net family and encoder-decoder architectures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Attention mechanisms and transformers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Foundation models (SAM, MedSAM)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Session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822959"/>
          </a:xfrm>
          <a:prstGeom prst="rect">
            <a:avLst/>
          </a:prstGeom>
          <a:solidFill>
            <a:srgbClr val="F5EEF8"/>
          </a:solidFill>
          <a:ln w="381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Part III: Classification &amp; Diagnosis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CNN architectures to Vision Transformers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Multi-modal learning and foundation models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Clinical deployment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Segmentation examples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(Liver tumor, Lung tumor, Kidney cyst, Lung mass)...]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Classification examples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(Retinal, Brain MRI sequences, Chest X-ray, Brain segmentation maps)...]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Medical Imaging: The Data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Radiology (2D/3D)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High resolution, 3D volumes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MRI: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Multi-sequence, soft tissue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X-ray: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2D projection, screening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Ultrasound: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Real-time, operator-dependent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39"/>
            <a:ext cx="7863840" cy="12344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59"/>
            <a:ext cx="7680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Key Characteristics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High dimensionality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512×512×300 voxels typical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Limited annotations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Expert time is expensive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Class imbalance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Pathology is rare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solidFill>
            <a:srgbClr val="FDF2F8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Critical Challenge: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90% of medical data is imaging, yet only ~1% is labeled for AI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3D Slicer: Medical Image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3D Slicer interface showing 3D reconstruction and segmentation overlay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(Femur 3D model, MRI 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Medical Image Annotation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Segmentation annotation interface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(CT axial slice with cardiac structure segmentation overla...]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Segmentation vs Classification: 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Semantic Segmentation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Goal: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Pixel/voxel-wise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Output: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Dense prediction map (H×W×C)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Applications: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Tumor delineation for radiotherapy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Organ segmentation for volume quantification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Lesion identification in CT/MRI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Cell nuclei segmentation in pathology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Input: (B, C, H, W, D)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Output: (B, K, H, W, D)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 = number of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39"/>
            <a:ext cx="7863840" cy="68580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5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Clinical Insight: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Segmentation provides interpretability and precise localization, while classification enables high-throughput screening. Modern systems often combine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28999"/>
            <a:ext cx="7863840" cy="137160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19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Image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Goal: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Image-level label prediction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Output: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Class probabilities (C,)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Applications: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Disease presence/absence detection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Cancer subtype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Severity grading (mild/moderate/severe)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Quality control and artifact detection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Input: (B, C, H, W, D)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Output: (B, K)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 = number of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Review: Convolutional Neural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Convolution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Local feature extraction with learned kernels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Conv2D(in_ch, out_ch, kernel=3×3)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Activation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Non-linearity (ReLU, GELU)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ReLU(x) = max(0, x)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solidFill>
            <a:srgbClr val="FDF2F8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Medical Imaging Adaptation: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3D convolutions for volumetric data, smaller batch sizes due to memory, extensive data augmentation due to limited training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Pooling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Spatial downsampling (max/average)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MaxPool2D(kernel=2×2, stride=2)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solidFill>
            <a:srgbClr val="F5EEF8"/>
          </a:solidFill>
          <a:ln w="381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Normalization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Batch/Instance/Group normalization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BatchNorm2D(num_features)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U-Net: The Foundation of Medical Image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Expanding Path (Decoder)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UpConv 2×2 → Concatenate skip → Conv 3×3 → ReLU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Halves channels at each upsampling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863840" cy="685800"/>
          </a:xfrm>
          <a:prstGeom prst="rect">
            <a:avLst/>
          </a:prstGeom>
          <a:solidFill>
            <a:srgbClr val="F5EEF8"/>
          </a:solidFill>
          <a:ln w="381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Bottleneck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Lowest spatial resolution, highest channel count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Captures semantic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7863840" cy="685800"/>
          </a:xfrm>
          <a:prstGeom prst="rect">
            <a:avLst/>
          </a:prstGeom>
          <a:solidFill>
            <a:srgbClr val="F5F6FA"/>
          </a:solidFill>
          <a:ln w="381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Ronneberger et al., 2015 (MICCAI)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- 67,000+ citations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Designed specifically for biomedical image segmentation with limited training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solidFill>
            <a:srgbClr val="FEF3E2"/>
          </a:solidFill>
          <a:ln w="381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Contracting Path (Encoder)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Repeated: Conv 3×3 → ReLU → Conv 3×3 → ReLU → MaxPool 2×2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Doubles channels at each downsampling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U-Net: The Foundation of Medical Image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U-Net architecture diagram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Encoder (left): 1→32→32, 64→64, 128→128, 256→256 channels with ma...]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U-Net: Encoder-Decoder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U-shaped encoder-decoder visualization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(Encoder on left side reducing spatial resolution, De...]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Convolutions + Max Pooling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2D convolution animation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(Input → 3×3 kernel → Output feature maps)...]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Max pooling example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(5×4 input grid → 3×3 output with max values)...]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Different Pooling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822959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Max Pool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Filter (2×2), Stride (2, 2)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Selects maximum value from each window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4×4 input → 2×2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7863840" cy="822959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Average Pool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Filter (2×2), Stride (2, 2)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Computes average value from each window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4×4 input → 2×2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Side-by-side max pool and average pool examples with colored grid cells...]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Transpose Convolution - Upsampling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Increase spatial resolution (opposite of regular convolution with stride &gt; 1). Essential for the decoder path in U-Net.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Transposed 2D convolution with padding,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stride of 2 and kernel of 3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(Small input → Large out...]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Second view of transpose convolution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(Demonstrating overlapping regions and value accumulati...]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Transpose Convolutions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Output size formula: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 = s(i - 1) + f - 2p    where i=input size, f=filter size, p=padding, s=stride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Andrew Ng's transpose convolution explanation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2×2 input → 4×4 output using 3×3 filter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filter...]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UNet: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822959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Operations per block: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1. Two successive 3×3 convolutions with ReLU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2. Skip connection output (enc_layer) saved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3. Max pooling 2×2 for downsampling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Full U-Net architecture with encoder path highlighted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(Orange/peach shading on left side sho...]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Single encoder block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(Input → Conv 3×3 ReLU → Conv 3×3 ReLU → [enc_layer output + MaxPool 2×...]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UNet: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822959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Key: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The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enc_layer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is saved before pooling and later concatenated with the decoder via skip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Encoder block diagram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inputs (N×N) → conv 3×3 ReLU → conv 3×3 ReLU → enc_layer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↓ max pool 2×...]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UNet: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Operations per block: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1. Transposed convolution (up conv 2×2) to upsample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2. Concatenate with corresponding encoder features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3. Two successive 3×3 convolutions with ReLU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Full U-Net architecture with decoder path highlighted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(Green shading on right side showing e...]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8036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Single decoder block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(Input → Up Conv 2×2 → Concatenate with enc_layer → Conv 3×3 ReLU → Con...]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UNet: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Decoder block diagram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inputs → up conv 2×2 ↑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+ enc_layer (skip connection) →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conv 3×3 ReLU →...]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UNet: Decoder - Final Output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411479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Note: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The argmax is done outside the network (loss or metric, display, 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19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Full U-Net with output layer highlighted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(Final 1×1 convolution mapping to num_classes chann...]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solidFill>
            <a:srgbClr val="FAFA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0000FF"/>
                </a:solidFill>
              </a:defRPr>
            </a:pPr>
            <a:r>
              <a:t>[Figure: Figure: Output block detail</a:t>
            </a:r>
          </a:p>
          <a:p>
            <a:pPr algn="ctr">
              <a:defRPr sz="1100" i="1">
                <a:solidFill>
                  <a:srgbClr val="0000FF"/>
                </a:solidFill>
              </a:defRPr>
            </a:pPr>
            <a:r>
              <a:t>inputs → conv 1×1 → argmax → segmentation map (num_classes)...]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U-Net Evolution: Modern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3D U-Net (2016)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Extends to volumetric medical data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3D convolutions and 3D pooling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Better for CT/MRI volumes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Memory intensive: patch-based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863840" cy="137160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nnU-Net: Key Principles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Automatic Preprocessing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Resampling, normalization based on data properties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Dynamic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2D, 3D, or cascade based on dataset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Robust Training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Optimized augmentation and loss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Attention U-Net (2018)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Attention gates in skip connections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Learns to focus on relevant features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Suppresses irrelevant regions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Improved boundary delineation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Attention Mechanisms &amp; Vision Transformers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Advantage: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Each position attends to all other positions, capturing long-range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863840" cy="411479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2. Position Encoding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Add learnable position embeddings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7863840" cy="411479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3. Transformer Encoder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Stack of self-attention + MLP blocks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7863840" cy="1371600"/>
          </a:xfrm>
          <a:prstGeom prst="rect">
            <a:avLst/>
          </a:prstGeom>
          <a:solidFill>
            <a:srgbClr val="FDF2F8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Challenges in Medical Imaging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Data Hungry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ViT requires large datasets or pre-training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Computational Cost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O(n²) complexity for self-attention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Loss of Inductive Bias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No built-in translation equivariance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7863840" cy="411479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1. Patch Embedding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Split image into patches (16×16), linear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Hybrid Architectures: TransUNet &amp; Swin-UNet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TransUNet (2021)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Combines CNN and Transformer for segmentation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Encoder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CNN backbone (ResNet) for low-level features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Bottleneck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Transformer encoder for global context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Decoder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Cascade upsampling with skip connections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Benefit: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CNN captures local texture, Transformer captures global semantic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39"/>
            <a:ext cx="7863840" cy="5486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Benefit: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CNN captures local texture, Transformer captures global semantic relationships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91839"/>
            <a:ext cx="7863840" cy="5486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375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Advantage: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Efficient for high-resolution medical images, maintains hierarchical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7863840" cy="1371600"/>
          </a:xfrm>
          <a:prstGeom prst="rect">
            <a:avLst/>
          </a:prstGeom>
          <a:solidFill>
            <a:srgbClr val="F5EEF8"/>
          </a:solidFill>
          <a:ln w="381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59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Swin-UNet (2022)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Pure transformer with hierarchical design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Shifted Windows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Local attention within windows, then shifted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Patch Merging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Hierarchical feature maps (like CNN pooling)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Linear Complexity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— O(n) instead of O(n²) for self-attention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Advantage: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Efficient for high-resolution medical images, maintains hierarchical 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Hybrid Architectures: TransUNet &amp; Swin-UNet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Key Takeaway: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Swin-UNet achieves the best performance with fewer parameters than TransUNet, demonstrating the effectiveness of hierarchical windowed attention for medical image segmentation.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solidFill>
            <a:srgbClr val="F5F6FA"/>
          </a:solidFill>
          <a:ln w="381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Performance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331720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Synapse Multi-Organ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76.85% DSC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~31M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Simple, reliable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TransUNet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77.48% DSC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~105M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Global context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Swin-UNet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79.13% DSC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~27M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Foundation Models: Segment Anything (SAM)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Image Encoder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ViT-H (Huge): 632M parameters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Pre-computable embeddings for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Prompt Encoder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Points, boxes, masks, or text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Flexible user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solidFill>
            <a:srgbClr val="F5EEF8"/>
          </a:solidFill>
          <a:ln w="381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Mask Decoder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Lightweight transformer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Predicts multiple mask proposals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solidFill>
            <a:srgbClr val="F5F6FA"/>
          </a:solidFill>
          <a:ln w="381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Key Innovation: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Promptable segmentation enables zero-shot transfer to new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7863840" cy="457200"/>
          </a:xfrm>
          <a:prstGeom prst="rect">
            <a:avLst/>
          </a:prstGeom>
          <a:solidFill>
            <a:srgbClr val="5050C8"/>
          </a:solidFill>
          <a:ln>
            <a:solidFill>
              <a:srgbClr val="505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59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Raleway"/>
              </a:defRPr>
            </a:pPr>
            <a:r>
              <a:t>Meta AI - April 2023</a:t>
            </a:r>
          </a:p>
          <a:p>
            <a:pPr>
              <a:defRPr sz="1400" b="1">
                <a:solidFill>
                  <a:srgbClr val="FFFFFF"/>
                </a:solidFill>
                <a:latin typeface="Raleway"/>
              </a:defRPr>
            </a:pPr>
            <a:r>
              <a:t>First foundation model for image segmentation trained on 1 billion masks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MedSAM: Medical Adaptation of SAM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Dataset Composition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CT: 760K images (tumors, organs)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MRI: 480K images (brain, cardiac)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Ultrasound: 150K images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Microscopy: 210K images (cells, tissues)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Fine-tuning Approach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Freeze image encoder, train mask decoder and prompt encoder on medical data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Preserves natural image features, adapts to medical domain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017520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MedSAM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Liver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Brain 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84.3%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Cell 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MedSAM: Medical Adaptation of SAM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Fine-tuning Approach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Freeze image encoder, train mask decoder and prompt encoder on medical data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Preserves natural image features, adapts to medical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863840" cy="1371600"/>
          </a:xfrm>
          <a:prstGeom prst="rect">
            <a:avLst/>
          </a:prstGeom>
          <a:solidFill>
            <a:srgbClr val="F5F6FA"/>
          </a:solidFill>
          <a:ln w="381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Clinical Workflow Integration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Interactive Refinement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Radiologist provides box prompt → MedSAM segments → Add/remove points to refine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Quality Control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Rapid review of automated segmentations with minimal corrections needed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Training Data Creation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10x faster annotation for building task-specific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FF"/>
                </a:solidFill>
                <a:latin typeface="Raleway"/>
              </a:defRPr>
            </a:pPr>
            <a:r>
              <a:t>Loss Functions for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E6E6FF"/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Cross-Entropy Loss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 = -Σ y_i log(p_i)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Pixel-wise classification loss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Pros: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Well-studied, stable training | Works with multi-class problems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Cons: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Sensitive to class imbalance | Treats pixels independently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39"/>
            <a:ext cx="7863840" cy="411479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5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Use Case: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Extreme class imbalance, small object detection, hard example mining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79"/>
            <a:ext cx="7863840" cy="548640"/>
          </a:xfrm>
          <a:prstGeom prst="rect">
            <a:avLst/>
          </a:prstGeom>
          <a:solidFill>
            <a:srgbClr val="FEF9E7"/>
          </a:solidFill>
          <a:ln w="38100">
            <a:solidFill>
              <a:srgbClr val="F4D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39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Use Case: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Precise boundary delineation, organ segmentation, tumor margin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79"/>
            <a:ext cx="7863840" cy="1371600"/>
          </a:xfrm>
          <a:prstGeom prst="rect">
            <a:avLst/>
          </a:prstGeom>
          <a:solidFill>
            <a:srgbClr val="E8F8F5"/>
          </a:solidFill>
          <a:ln w="381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199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Dice Loss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L = 1 - (2|X∩Y|)/(|X|+|Y|)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Based on Dice similarity coefficient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Pros: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Handles class imbalance naturally | Directly optimizes evaluation metric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Cons: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Raleway"/>
              </a:defRPr>
            </a:pPr>
            <a:r>
              <a:t>Can be unstable for small objects | Non-convex optimization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Raleway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